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2.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3.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en-US" sz="1500" b="1">
                <a:solidFill>
                  <a:srgbClr val="000000"/>
                </a:solidFill>
              </a:rPr>
              <a:t>Portfolio median vs. same-unit growth</a:t>
            </a:r>
          </a:p>
        </c:rich>
      </c:tx>
      <c:overlay val="1"/>
    </c:title>
    <c:autoTitleDeleted val="0"/>
    <c:plotArea>
      <c:layout/>
      <c:lineChart>
        <c:grouping val="standard"/>
        <c:varyColors val="1"/>
        <c:ser>
          <c:idx val="0"/>
          <c:order val="0"/>
          <c:tx>
            <c:v>Naive portfolio median</c:v>
          </c:tx>
          <c:spPr>
            <a:ln w="28575">
              <a:solidFill>
                <a:srgbClr val="2878B8"/>
              </a:solidFill>
              <a:prstDash val="dash"/>
            </a:ln>
          </c:spPr>
          <c:marker>
            <c:symbol val="circle"/>
            <c:size val="8"/>
          </c:marker>
          <c:cat>
            <c:numLit>
              <c:formatCode>General</c:formatCode>
              <c:ptCount val="5"/>
              <c:pt idx="0">
                <c:v>2021</c:v>
              </c:pt>
              <c:pt idx="1">
                <c:v>2022</c:v>
              </c:pt>
              <c:pt idx="2">
                <c:v>2023</c:v>
              </c:pt>
              <c:pt idx="3">
                <c:v>2024</c:v>
              </c:pt>
              <c:pt idx="4">
                <c:v>2025</c:v>
              </c:pt>
            </c:numLit>
          </c:cat>
          <c:val>
            <c:numLit>
              <c:formatCode>0.0</c:formatCode>
              <c:ptCount val="5"/>
              <c:pt idx="0">
                <c:v>4.2300000000000004</c:v>
              </c:pt>
              <c:pt idx="1">
                <c:v>3.38</c:v>
              </c:pt>
              <c:pt idx="2">
                <c:v>10.85</c:v>
              </c:pt>
              <c:pt idx="3">
                <c:v>4.4800000000000004</c:v>
              </c:pt>
              <c:pt idx="4">
                <c:v>4.0599999999999996</c:v>
              </c:pt>
            </c:numLit>
          </c:val>
          <c:smooth val="1"/>
          <c:extLst>
            <c:ext xmlns:c16="http://schemas.microsoft.com/office/drawing/2014/chart" uri="{C3380CC4-5D6E-409C-BE32-E72D297353CC}">
              <c16:uniqueId val="{00000000-57D2-4193-9B58-40D528571E31}"/>
            </c:ext>
          </c:extLst>
        </c:ser>
        <c:ser>
          <c:idx val="1"/>
          <c:order val="1"/>
          <c:tx>
            <c:v>Same-unit contractual</c:v>
          </c:tx>
          <c:spPr>
            <a:ln w="28575">
              <a:solidFill>
                <a:srgbClr val="FF7F0E"/>
              </a:solidFill>
              <a:prstDash val="solid"/>
            </a:ln>
          </c:spPr>
          <c:marker>
            <c:symbol val="square"/>
            <c:size val="8"/>
          </c:marker>
          <c:cat>
            <c:numLit>
              <c:formatCode>General</c:formatCode>
              <c:ptCount val="5"/>
              <c:pt idx="0">
                <c:v>2021</c:v>
              </c:pt>
              <c:pt idx="1">
                <c:v>2022</c:v>
              </c:pt>
              <c:pt idx="2">
                <c:v>2023</c:v>
              </c:pt>
              <c:pt idx="3">
                <c:v>2024</c:v>
              </c:pt>
              <c:pt idx="4">
                <c:v>2025</c:v>
              </c:pt>
            </c:numLit>
          </c:cat>
          <c:val>
            <c:numLit>
              <c:formatCode>0.0</c:formatCode>
              <c:ptCount val="5"/>
              <c:pt idx="0">
                <c:v>4.46</c:v>
              </c:pt>
              <c:pt idx="1">
                <c:v>5.4</c:v>
              </c:pt>
              <c:pt idx="2">
                <c:v>2.29</c:v>
              </c:pt>
              <c:pt idx="3">
                <c:v>3.39</c:v>
              </c:pt>
              <c:pt idx="4">
                <c:v>7.04</c:v>
              </c:pt>
            </c:numLit>
          </c:val>
          <c:smooth val="1"/>
          <c:extLst>
            <c:ext xmlns:c16="http://schemas.microsoft.com/office/drawing/2014/chart" uri="{C3380CC4-5D6E-409C-BE32-E72D297353CC}">
              <c16:uniqueId val="{00000001-57D2-4193-9B58-40D528571E31}"/>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B8BCC4"/>
            </a:solidFill>
            <a:prstDash val="solid"/>
          </a:ln>
        </c:spPr>
        <c:txPr>
          <a:bodyPr anchorCtr="1"/>
          <a:lstStyle/>
          <a:p>
            <a:pPr>
              <a:defRPr sz="1200">
                <a:solidFill>
                  <a:srgbClr val="4C525B"/>
                </a:solidFill>
              </a:defRPr>
            </a:pPr>
            <a:endParaRPr lang="fr-FR"/>
          </a:p>
        </c:txPr>
        <c:crossAx val="48672768"/>
        <c:crosses val="autoZero"/>
        <c:auto val="1"/>
        <c:lblAlgn val="ctr"/>
        <c:lblOffset val="100"/>
        <c:noMultiLvlLbl val="0"/>
      </c:catAx>
      <c:valAx>
        <c:axId val="48672768"/>
        <c:scaling>
          <c:orientation val="minMax"/>
          <c:max val="12"/>
          <c:min val="0"/>
        </c:scaling>
        <c:delete val="0"/>
        <c:axPos val="l"/>
        <c:majorGridlines>
          <c:spPr>
            <a:ln w="9525">
              <a:solidFill>
                <a:srgbClr val="E1E3E6"/>
              </a:solidFill>
              <a:prstDash val="solid"/>
            </a:ln>
          </c:spPr>
        </c:majorGridlines>
        <c:title>
          <c:tx>
            <c:rich>
              <a:bodyPr/>
              <a:lstStyle/>
              <a:p>
                <a:r>
                  <a:rPr lang="fr-CA" sz="1200">
                    <a:solidFill>
                      <a:srgbClr val="4C525B"/>
                    </a:solidFill>
                  </a:rPr>
                  <a:t>Annual growth (%)</a:t>
                </a:r>
              </a:p>
            </c:rich>
          </c:tx>
          <c:overlay val="1"/>
        </c:title>
        <c:numFmt formatCode="0.0" sourceLinked="1"/>
        <c:majorTickMark val="none"/>
        <c:minorTickMark val="none"/>
        <c:tickLblPos val="nextTo"/>
        <c:spPr>
          <a:ln w="9525">
            <a:solidFill>
              <a:srgbClr val="D4D4D4"/>
            </a:solidFill>
            <a:prstDash val="solid"/>
          </a:ln>
        </c:spPr>
        <c:txPr>
          <a:bodyPr anchorCtr="1"/>
          <a:lstStyle/>
          <a:p>
            <a:pPr>
              <a:defRPr sz="1200">
                <a:solidFill>
                  <a:srgbClr val="4C525B"/>
                </a:solidFill>
              </a:defRPr>
            </a:pPr>
            <a:endParaRPr lang="fr-FR"/>
          </a:p>
        </c:txPr>
        <c:crossAx val="48650112"/>
        <c:crosses val="autoZero"/>
        <c:crossBetween val="between"/>
        <c:majorUnit val="2"/>
      </c:valAx>
      <c:spPr>
        <a:solidFill>
          <a:srgbClr val="FFFFFF"/>
        </a:solidFill>
        <a:ln w="0">
          <a:solidFill>
            <a:srgbClr val="FFFFFF"/>
          </a:solidFill>
          <a:prstDash val="solid"/>
        </a:ln>
      </c:spPr>
    </c:plotArea>
    <c:legend>
      <c:legendPos val="b"/>
      <c:overlay val="0"/>
      <c:txPr>
        <a:bodyPr anchorCtr="1"/>
        <a:lstStyle/>
        <a:p>
          <a:pPr>
            <a:defRPr sz="1125">
              <a:solidFill>
                <a:srgbClr val="4C525B"/>
              </a:solidFill>
            </a:defRPr>
          </a:pPr>
          <a:endParaRPr lang="fr-FR"/>
        </a:p>
      </c:txPr>
    </c:legend>
    <c:plotVisOnly val="1"/>
    <c:dispBlanksAs val="zero"/>
    <c:showDLblsOverMax val="1"/>
  </c:chart>
  <c:spPr>
    <a:solidFill>
      <a:srgbClr val="FFFFFF"/>
    </a:solidFill>
    <a:ln w="0">
      <a:solidFill>
        <a:srgbClr val="FFFFFF"/>
      </a:solidFill>
      <a:prstDash val="solid"/>
    </a:ln>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fr-CA" sz="1500" b="1">
                <a:solidFill>
                  <a:srgbClr val="000000"/>
                </a:solidFill>
              </a:rPr>
              <a:t>Same-unit effective-rent growth</a:t>
            </a:r>
          </a:p>
        </c:rich>
      </c:tx>
      <c:overlay val="1"/>
    </c:title>
    <c:autoTitleDeleted val="0"/>
    <c:plotArea>
      <c:layout/>
      <c:lineChart>
        <c:grouping val="standard"/>
        <c:varyColors val="1"/>
        <c:ser>
          <c:idx val="0"/>
          <c:order val="0"/>
          <c:tx>
            <c:v>Effective-rent growth</c:v>
          </c:tx>
          <c:spPr>
            <a:ln w="28575">
              <a:solidFill>
                <a:srgbClr val="3D8DFF"/>
              </a:solidFill>
              <a:prstDash val="solid"/>
            </a:ln>
          </c:spPr>
          <c:marker>
            <c:symbol val="circle"/>
            <c:size val="8"/>
          </c:marker>
          <c:cat>
            <c:numLit>
              <c:formatCode>General</c:formatCode>
              <c:ptCount val="5"/>
              <c:pt idx="0">
                <c:v>2021</c:v>
              </c:pt>
              <c:pt idx="1">
                <c:v>2022</c:v>
              </c:pt>
              <c:pt idx="2">
                <c:v>2023</c:v>
              </c:pt>
              <c:pt idx="3">
                <c:v>2024</c:v>
              </c:pt>
              <c:pt idx="4">
                <c:v>2025</c:v>
              </c:pt>
            </c:numLit>
          </c:cat>
          <c:val>
            <c:numLit>
              <c:formatCode>0.0</c:formatCode>
              <c:ptCount val="5"/>
              <c:pt idx="0">
                <c:v>3.54</c:v>
              </c:pt>
              <c:pt idx="1">
                <c:v>4.59</c:v>
              </c:pt>
              <c:pt idx="2">
                <c:v>2.02</c:v>
              </c:pt>
              <c:pt idx="3">
                <c:v>1.77</c:v>
              </c:pt>
              <c:pt idx="4">
                <c:v>3.58</c:v>
              </c:pt>
            </c:numLit>
          </c:val>
          <c:smooth val="1"/>
          <c:extLst>
            <c:ext xmlns:c16="http://schemas.microsoft.com/office/drawing/2014/chart" uri="{C3380CC4-5D6E-409C-BE32-E72D297353CC}">
              <c16:uniqueId val="{00000000-3308-4989-99BD-0E001377AF3E}"/>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B8BCC4"/>
            </a:solidFill>
            <a:prstDash val="solid"/>
          </a:ln>
        </c:spPr>
        <c:txPr>
          <a:bodyPr anchorCtr="1"/>
          <a:lstStyle/>
          <a:p>
            <a:pPr>
              <a:defRPr sz="1200">
                <a:solidFill>
                  <a:srgbClr val="4C525B"/>
                </a:solidFill>
              </a:defRPr>
            </a:pPr>
            <a:endParaRPr lang="fr-FR"/>
          </a:p>
        </c:txPr>
        <c:crossAx val="48672768"/>
        <c:crosses val="autoZero"/>
        <c:auto val="1"/>
        <c:lblAlgn val="ctr"/>
        <c:lblOffset val="100"/>
        <c:noMultiLvlLbl val="0"/>
      </c:catAx>
      <c:valAx>
        <c:axId val="48672768"/>
        <c:scaling>
          <c:orientation val="minMax"/>
          <c:max val="5"/>
          <c:min val="0"/>
        </c:scaling>
        <c:delete val="0"/>
        <c:axPos val="l"/>
        <c:majorGridlines>
          <c:spPr>
            <a:ln w="9525">
              <a:solidFill>
                <a:srgbClr val="E1E3E6"/>
              </a:solidFill>
              <a:prstDash val="solid"/>
            </a:ln>
          </c:spPr>
        </c:majorGridlines>
        <c:title>
          <c:tx>
            <c:rich>
              <a:bodyPr/>
              <a:lstStyle/>
              <a:p>
                <a:r>
                  <a:rPr lang="fr-CA" sz="1200">
                    <a:solidFill>
                      <a:srgbClr val="4C525B"/>
                    </a:solidFill>
                  </a:rPr>
                  <a:t>Annual growth (%)</a:t>
                </a:r>
              </a:p>
            </c:rich>
          </c:tx>
          <c:overlay val="1"/>
        </c:title>
        <c:numFmt formatCode="0.0" sourceLinked="1"/>
        <c:majorTickMark val="none"/>
        <c:minorTickMark val="none"/>
        <c:tickLblPos val="nextTo"/>
        <c:spPr>
          <a:ln w="9525">
            <a:solidFill>
              <a:srgbClr val="D4D4D4"/>
            </a:solidFill>
            <a:prstDash val="solid"/>
          </a:ln>
        </c:spPr>
        <c:txPr>
          <a:bodyPr anchorCtr="1"/>
          <a:lstStyle/>
          <a:p>
            <a:pPr>
              <a:defRPr sz="1200">
                <a:solidFill>
                  <a:srgbClr val="4C525B"/>
                </a:solidFill>
              </a:defRPr>
            </a:pPr>
            <a:endParaRPr lang="fr-FR"/>
          </a:p>
        </c:txPr>
        <c:crossAx val="48650112"/>
        <c:crosses val="autoZero"/>
        <c:crossBetween val="between"/>
        <c:majorUnit val="1"/>
      </c:valAx>
      <c:spPr>
        <a:solidFill>
          <a:srgbClr val="FFFFFF"/>
        </a:solidFill>
        <a:ln w="0">
          <a:solidFill>
            <a:srgbClr val="FFFFFF"/>
          </a:solidFill>
          <a:prstDash val="solid"/>
        </a:ln>
      </c:spPr>
    </c:plotArea>
    <c:plotVisOnly val="1"/>
    <c:dispBlanksAs val="zero"/>
    <c:showDLblsOverMax val="1"/>
  </c:chart>
  <c:spPr>
    <a:solidFill>
      <a:srgbClr val="FFFFFF"/>
    </a:solidFill>
    <a:ln w="0">
      <a:solidFill>
        <a:srgbClr val="FFFFFF"/>
      </a:solidFill>
      <a:prstDash val="solid"/>
    </a:ln>
  </c:spPr>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fr-CA" sz="1500" b="1">
                <a:solidFill>
                  <a:srgbClr val="000000"/>
                </a:solidFill>
              </a:rPr>
              <a:t>Backtest: predicted vs. actual</a:t>
            </a:r>
          </a:p>
        </c:rich>
      </c:tx>
      <c:overlay val="1"/>
    </c:title>
    <c:autoTitleDeleted val="0"/>
    <c:plotArea>
      <c:layout/>
      <c:lineChart>
        <c:grouping val="standard"/>
        <c:varyColors val="1"/>
        <c:ser>
          <c:idx val="0"/>
          <c:order val="0"/>
          <c:tx>
            <c:v>Actual</c:v>
          </c:tx>
          <c:spPr>
            <a:ln w="28575">
              <a:solidFill>
                <a:srgbClr val="2878B8"/>
              </a:solidFill>
              <a:prstDash val="solid"/>
            </a:ln>
          </c:spPr>
          <c:marker>
            <c:symbol val="circle"/>
            <c:size val="8"/>
          </c:marker>
          <c:cat>
            <c:numLit>
              <c:formatCode>General</c:formatCode>
              <c:ptCount val="3"/>
              <c:pt idx="0">
                <c:v>2023</c:v>
              </c:pt>
              <c:pt idx="1">
                <c:v>2024</c:v>
              </c:pt>
              <c:pt idx="2">
                <c:v>2025</c:v>
              </c:pt>
            </c:numLit>
          </c:cat>
          <c:val>
            <c:numLit>
              <c:formatCode>0.0</c:formatCode>
              <c:ptCount val="3"/>
              <c:pt idx="0">
                <c:v>2.02</c:v>
              </c:pt>
              <c:pt idx="1">
                <c:v>1.77</c:v>
              </c:pt>
              <c:pt idx="2">
                <c:v>3.58</c:v>
              </c:pt>
            </c:numLit>
          </c:val>
          <c:smooth val="1"/>
          <c:extLst>
            <c:ext xmlns:c16="http://schemas.microsoft.com/office/drawing/2014/chart" uri="{C3380CC4-5D6E-409C-BE32-E72D297353CC}">
              <c16:uniqueId val="{00000000-6DA6-48FF-A725-1702CBD0E698}"/>
            </c:ext>
          </c:extLst>
        </c:ser>
        <c:ser>
          <c:idx val="1"/>
          <c:order val="1"/>
          <c:tx>
            <c:v>Three-year mean</c:v>
          </c:tx>
          <c:spPr>
            <a:ln w="28575">
              <a:solidFill>
                <a:srgbClr val="FF7F0E"/>
              </a:solidFill>
              <a:prstDash val="dash"/>
            </a:ln>
          </c:spPr>
          <c:marker>
            <c:symbol val="square"/>
            <c:size val="8"/>
          </c:marker>
          <c:cat>
            <c:numLit>
              <c:formatCode>General</c:formatCode>
              <c:ptCount val="3"/>
              <c:pt idx="0">
                <c:v>2023</c:v>
              </c:pt>
              <c:pt idx="1">
                <c:v>2024</c:v>
              </c:pt>
              <c:pt idx="2">
                <c:v>2025</c:v>
              </c:pt>
            </c:numLit>
          </c:cat>
          <c:val>
            <c:numLit>
              <c:formatCode>0.0</c:formatCode>
              <c:ptCount val="3"/>
              <c:pt idx="0">
                <c:v>3.72</c:v>
              </c:pt>
              <c:pt idx="1">
                <c:v>3.38</c:v>
              </c:pt>
              <c:pt idx="2">
                <c:v>2.79</c:v>
              </c:pt>
            </c:numLit>
          </c:val>
          <c:smooth val="1"/>
          <c:extLst>
            <c:ext xmlns:c16="http://schemas.microsoft.com/office/drawing/2014/chart" uri="{C3380CC4-5D6E-409C-BE32-E72D297353CC}">
              <c16:uniqueId val="{00000001-6DA6-48FF-A725-1702CBD0E698}"/>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B8BCC4"/>
            </a:solidFill>
            <a:prstDash val="solid"/>
          </a:ln>
        </c:spPr>
        <c:txPr>
          <a:bodyPr anchorCtr="1"/>
          <a:lstStyle/>
          <a:p>
            <a:pPr>
              <a:defRPr sz="1200">
                <a:solidFill>
                  <a:srgbClr val="4C525B"/>
                </a:solidFill>
              </a:defRPr>
            </a:pPr>
            <a:endParaRPr lang="fr-FR"/>
          </a:p>
        </c:txPr>
        <c:crossAx val="48672768"/>
        <c:crosses val="autoZero"/>
        <c:auto val="1"/>
        <c:lblAlgn val="ctr"/>
        <c:lblOffset val="100"/>
        <c:noMultiLvlLbl val="0"/>
      </c:catAx>
      <c:valAx>
        <c:axId val="48672768"/>
        <c:scaling>
          <c:orientation val="minMax"/>
          <c:max val="4"/>
          <c:min val="1"/>
        </c:scaling>
        <c:delete val="0"/>
        <c:axPos val="l"/>
        <c:majorGridlines>
          <c:spPr>
            <a:ln w="9525">
              <a:solidFill>
                <a:srgbClr val="E1E3E6"/>
              </a:solidFill>
              <a:prstDash val="solid"/>
            </a:ln>
          </c:spPr>
        </c:majorGridlines>
        <c:title>
          <c:tx>
            <c:rich>
              <a:bodyPr/>
              <a:lstStyle/>
              <a:p>
                <a:r>
                  <a:rPr lang="fr-CA" sz="1200">
                    <a:solidFill>
                      <a:srgbClr val="4C525B"/>
                    </a:solidFill>
                  </a:rPr>
                  <a:t>Annual growth (%)</a:t>
                </a:r>
              </a:p>
            </c:rich>
          </c:tx>
          <c:overlay val="1"/>
        </c:title>
        <c:numFmt formatCode="0.0" sourceLinked="1"/>
        <c:majorTickMark val="none"/>
        <c:minorTickMark val="none"/>
        <c:tickLblPos val="nextTo"/>
        <c:spPr>
          <a:ln w="9525">
            <a:solidFill>
              <a:srgbClr val="D4D4D4"/>
            </a:solidFill>
            <a:prstDash val="solid"/>
          </a:ln>
        </c:spPr>
        <c:txPr>
          <a:bodyPr anchorCtr="1"/>
          <a:lstStyle/>
          <a:p>
            <a:pPr>
              <a:defRPr sz="1200">
                <a:solidFill>
                  <a:srgbClr val="4C525B"/>
                </a:solidFill>
              </a:defRPr>
            </a:pPr>
            <a:endParaRPr lang="fr-FR"/>
          </a:p>
        </c:txPr>
        <c:crossAx val="48650112"/>
        <c:crosses val="autoZero"/>
        <c:crossBetween val="between"/>
        <c:majorUnit val="0.5"/>
      </c:valAx>
      <c:spPr>
        <a:solidFill>
          <a:srgbClr val="FFFFFF"/>
        </a:solidFill>
        <a:ln w="0">
          <a:solidFill>
            <a:srgbClr val="FFFFFF"/>
          </a:solidFill>
          <a:prstDash val="solid"/>
        </a:ln>
      </c:spPr>
    </c:plotArea>
    <c:legend>
      <c:legendPos val="b"/>
      <c:overlay val="0"/>
      <c:txPr>
        <a:bodyPr anchorCtr="1"/>
        <a:lstStyle/>
        <a:p>
          <a:pPr>
            <a:defRPr sz="1200">
              <a:solidFill>
                <a:srgbClr val="4C525B"/>
              </a:solidFill>
            </a:defRPr>
          </a:pPr>
          <a:endParaRPr lang="fr-FR"/>
        </a:p>
      </c:txPr>
    </c:legend>
    <c:plotVisOnly val="1"/>
    <c:dispBlanksAs val="zero"/>
    <c:showDLblsOverMax val="1"/>
  </c:chart>
  <c:spPr>
    <a:solidFill>
      <a:srgbClr val="FFFFFF"/>
    </a:solidFill>
    <a:ln w="0">
      <a:solidFill>
        <a:srgbClr val="FFFFFF"/>
      </a:solidFill>
      <a:prstDash val="solid"/>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estimate the 2026 increase in effective rent for Collection Equinoxe. The method is deliberately simple so every step can be checked and explained.
[Sources]
- Internal analysis: rent_forecasting.ipynb
- Challenge brief: data/consignes.pdf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buildings and unit mix changed over time, so the median of all leases is not a clean measure of rent growth. The 2023 example shows the size of that bias. We therefore match the same apartment across consecutive leases.
[Sources]
- Internal CRM analysis: rent_forecasting.ipynb, composition and same-unit sections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unit key and time-gap filter come directly from the challenge method. Effective rent is the target because it includes concessions. The same helper is used for the final estimate and every historical backtest, which prevents the two functions from drifting apart.
[Sources]
- Method and function definitions: rent_forecasting.ipynb
- Official starter and challenge brief: starter.ipynb and data/consignes.pdf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main internal trend used by the forecast. Growth fell in 2023 and 2024, then recovered to 3.58% in 2025. The rebound matters, but one stronger year is not enough to use 2025 alone as the forecast.</a:t>
            </a:r>
          </a:p>
          <a:p>
            <a:endParaRPr/>
          </a:p>
          <a:p>
            <a:r>
              <a:t>[Sources]</a:t>
            </a:r>
          </a:p>
          <a:p>
            <a:r>
              <a:t>- Internal CRM analysis: rent_forecasting.ipynb, historical target section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Concessions became more common and larger in 2024 and 2025. Turnover growth was also higher than renewal growth in 2025. This is why the forecast uses effective rent and reports the two lease types separately.
[Sources]
- Internal CRM analysis: rent_forecasting.ipynb, concessions and renewal/turnover sections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CMHC shows strong published rent growth, but Montréal vacancy also rose from 1.5% to 2.9%. We therefore use the market data as a check rather than copying its growth rate. The Met is treated separately: it first opened in 2022, is generally exempt from Ontario's guideline, and has only two years of matched lease history.</a:t>
            </a:r>
          </a:p>
          <a:p>
            <a:endParaRPr/>
          </a:p>
          <a:p>
            <a:r>
              <a:t>[Sources]</a:t>
            </a:r>
          </a:p>
          <a:p>
            <a:r>
              <a:t>- CMHC Rental Market Survey tables: https://www.cmhc-schl.gc.ca/professionals/housing-markets-data-and-research/housing-data-statistics-sources-datasets</a:t>
            </a:r>
          </a:p>
          <a:p>
            <a:r>
              <a:t>- Statistics Canada Table 18-10-0005-01: https://doi.org/10.25318/1810000501-eng</a:t>
            </a:r>
          </a:p>
          <a:p>
            <a:r>
              <a:t>- Ontario residential rent increases: https://www.ontario.ca/page/residential-rent-increases</a:t>
            </a:r>
          </a:p>
          <a:p>
            <a:r>
              <a:t>- Quebec TAL guidance: https://www.tal.gouv.qc.ca/fr/reconduction-du-bail-et-fixation-de-loyer/pourcentages-applicables-aux-criteres-de-fixation-de-loyer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model is deliberately simple: it averages the previous three annual results. Across the three available backtest years, its mean absolute error was 1.36 percentage points and it slightly outperformed one-year persistence. The final 2.46% estimate is the average of 2023, 2024, and 2025. The range is for planning, not a confidence interval.</a:t>
            </a:r>
          </a:p>
          <a:p>
            <a:endParaRPr/>
          </a:p>
          <a:p>
            <a:r>
              <a:t>[Sources]</a:t>
            </a:r>
          </a:p>
          <a:p>
            <a:r>
              <a:t>- Forecast and backtest: rent_forecasting.ipynb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22FEF-235C-A82D-5A96-A7FDC4731334}"/>
              </a:ext>
            </a:extLst>
          </p:cNvPr>
          <p:cNvSpPr>
            <a:spLocks noGrp="1"/>
          </p:cNvSpPr>
          <p:nvPr>
            <p:ph type="ctrTitle"/>
          </p:nvPr>
        </p:nvSpPr>
        <p:spPr>
          <a:xfrm>
            <a:off x="1524000" y="1122363"/>
            <a:ext cx="9144000" cy="2387600"/>
          </a:xfrm>
        </p:spPr>
        <p:txBody>
          <a:bodyPr anchor="b"/>
          <a:lstStyle>
            <a:lvl1pPr algn="ctr">
              <a:buNone/>
              <a:defRPr sz="6000"/>
            </a:lvl1pPr>
          </a:lstStyle>
          <a:p>
            <a:r>
              <a:t>Click to edit Master title style</a:t>
            </a:r>
          </a:p>
        </p:txBody>
      </p:sp>
      <p:sp>
        <p:nvSpPr>
          <p:cNvPr id="3" name="Subtitle 2">
            <a:extLst>
              <a:ext uri="{FF2B5EF4-FFF2-40B4-BE49-F238E27FC236}">
                <a16:creationId xmlns:a16="http://schemas.microsoft.com/office/drawing/2014/main" id="{BA0075FB-D97A-2B57-9FAA-A2487E109CD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4" name="Date Placeholder 3">
            <a:extLst>
              <a:ext uri="{FF2B5EF4-FFF2-40B4-BE49-F238E27FC236}">
                <a16:creationId xmlns:a16="http://schemas.microsoft.com/office/drawing/2014/main" id="{D11154E1-520F-DAF8-0CE8-B2ADFC7A84CE}"/>
              </a:ext>
            </a:extLst>
          </p:cNvPr>
          <p:cNvSpPr>
            <a:spLocks noGrp="1"/>
          </p:cNvSpPr>
          <p:nvPr>
            <p:ph type="dt" idx="10"/>
          </p:nvPr>
        </p:nvSpPr>
        <p:spPr/>
        <p:txBody>
          <a:bodyPr/>
          <a:lstStyle/>
          <a:p>
            <a:fld id="{67190033-2F3D-4D35-BAB2-033E00903AF8}" type="datetimeFigureOut">
              <a:t>04/10/2026</a:t>
            </a:fld>
            <a:endParaRPr/>
          </a:p>
        </p:txBody>
      </p:sp>
      <p:sp>
        <p:nvSpPr>
          <p:cNvPr id="5" name="Footer Placeholder 4">
            <a:extLst>
              <a:ext uri="{FF2B5EF4-FFF2-40B4-BE49-F238E27FC236}">
                <a16:creationId xmlns:a16="http://schemas.microsoft.com/office/drawing/2014/main" id="{D261745A-A4F1-5800-8867-FA2DB7720229}"/>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20AB154F-62BF-D70C-B340-0E9B46310D14}"/>
              </a:ext>
            </a:extLst>
          </p:cNvPr>
          <p:cNvSpPr>
            <a:spLocks noGrp="1"/>
          </p:cNvSpPr>
          <p:nvPr>
            <p:ph type="sldNum" idx="12"/>
          </p:nvPr>
        </p:nvSpPr>
        <p:spPr/>
        <p:txBody>
          <a:bodyPr/>
          <a:lstStyle/>
          <a:p>
            <a:fld id="{98CF6C54-7381-4F9B-8B8C-BE1C669C65DF}"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B7A7A-C47B-866B-0C7F-F8A763D0A7E2}"/>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17429261-958D-C5B8-E387-8807572AEE34}"/>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9A083009-7CA5-2EE5-9FB7-342E1FB4AFEF}"/>
              </a:ext>
            </a:extLst>
          </p:cNvPr>
          <p:cNvSpPr>
            <a:spLocks noGrp="1"/>
          </p:cNvSpPr>
          <p:nvPr>
            <p:ph type="dt" idx="10"/>
          </p:nvPr>
        </p:nvSpPr>
        <p:spPr/>
        <p:txBody>
          <a:bodyPr/>
          <a:lstStyle/>
          <a:p>
            <a:fld id="{67190033-2F3D-4D35-BAB2-033E00903AF8}" type="datetimeFigureOut">
              <a:t>04/10/2026</a:t>
            </a:fld>
            <a:endParaRPr/>
          </a:p>
        </p:txBody>
      </p:sp>
      <p:sp>
        <p:nvSpPr>
          <p:cNvPr id="5" name="Footer Placeholder 4">
            <a:extLst>
              <a:ext uri="{FF2B5EF4-FFF2-40B4-BE49-F238E27FC236}">
                <a16:creationId xmlns:a16="http://schemas.microsoft.com/office/drawing/2014/main" id="{C9F86935-77CF-2D05-8CD1-6D2CD40625B1}"/>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7F4DCCA0-0820-81C6-C047-D7FCF600E191}"/>
              </a:ext>
            </a:extLst>
          </p:cNvPr>
          <p:cNvSpPr>
            <a:spLocks noGrp="1"/>
          </p:cNvSpPr>
          <p:nvPr>
            <p:ph type="sldNum" idx="12"/>
          </p:nvPr>
        </p:nvSpPr>
        <p:spPr/>
        <p:txBody>
          <a:bodyPr/>
          <a:lstStyle/>
          <a:p>
            <a:fld id="{98CF6C54-7381-4F9B-8B8C-BE1C669C65DF}"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77862-67CD-30A7-F7A8-E3C67E9D33D6}"/>
              </a:ext>
            </a:extLst>
          </p:cNvPr>
          <p:cNvSpPr>
            <a:spLocks noGrp="1"/>
          </p:cNvSpPr>
          <p:nvPr>
            <p:ph type="title"/>
          </p:nvPr>
        </p:nvSpPr>
        <p:spPr>
          <a:xfrm>
            <a:off x="831850" y="1709738"/>
            <a:ext cx="10515600" cy="2852737"/>
          </a:xfrm>
        </p:spPr>
        <p:txBody>
          <a:bodyPr anchor="b"/>
          <a:lstStyle>
            <a:lvl1pPr>
              <a:buNone/>
              <a:defRPr sz="6000"/>
            </a:lvl1pPr>
          </a:lstStyle>
          <a:p>
            <a:r>
              <a:t>Click to edit Master title style</a:t>
            </a:r>
          </a:p>
        </p:txBody>
      </p:sp>
      <p:sp>
        <p:nvSpPr>
          <p:cNvPr id="3" name="Text Placeholder 2">
            <a:extLst>
              <a:ext uri="{FF2B5EF4-FFF2-40B4-BE49-F238E27FC236}">
                <a16:creationId xmlns:a16="http://schemas.microsoft.com/office/drawing/2014/main" id="{CD37515A-B8FF-F834-B288-264CAB5757F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A95ECEEA-54A5-3603-E88E-FF431FC87CF2}"/>
              </a:ext>
            </a:extLst>
          </p:cNvPr>
          <p:cNvSpPr>
            <a:spLocks noGrp="1"/>
          </p:cNvSpPr>
          <p:nvPr>
            <p:ph type="dt" idx="10"/>
          </p:nvPr>
        </p:nvSpPr>
        <p:spPr/>
        <p:txBody>
          <a:bodyPr/>
          <a:lstStyle/>
          <a:p>
            <a:fld id="{67190033-2F3D-4D35-BAB2-033E00903AF8}" type="datetimeFigureOut">
              <a:t>04/10/2026</a:t>
            </a:fld>
            <a:endParaRPr/>
          </a:p>
        </p:txBody>
      </p:sp>
      <p:sp>
        <p:nvSpPr>
          <p:cNvPr id="5" name="Footer Placeholder 4">
            <a:extLst>
              <a:ext uri="{FF2B5EF4-FFF2-40B4-BE49-F238E27FC236}">
                <a16:creationId xmlns:a16="http://schemas.microsoft.com/office/drawing/2014/main" id="{B68FEB8E-6699-7F9F-F9E2-8F4AB03538E0}"/>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25710AC3-3E97-997D-26DE-DF13326A826D}"/>
              </a:ext>
            </a:extLst>
          </p:cNvPr>
          <p:cNvSpPr>
            <a:spLocks noGrp="1"/>
          </p:cNvSpPr>
          <p:nvPr>
            <p:ph type="sldNum" idx="12"/>
          </p:nvPr>
        </p:nvSpPr>
        <p:spPr/>
        <p:txBody>
          <a:bodyPr/>
          <a:lstStyle/>
          <a:p>
            <a:fld id="{98CF6C54-7381-4F9B-8B8C-BE1C669C65DF}"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1802B-548B-EE7B-1C90-46468C3C7EF7}"/>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9E290980-4D74-D6DD-5162-F7E657C0CAE4}"/>
              </a:ext>
            </a:extLst>
          </p:cNvPr>
          <p:cNvSpPr>
            <a:spLocks noGrp="1"/>
          </p:cNvSpPr>
          <p:nvPr>
            <p:ph idx="1"/>
          </p:nvPr>
        </p:nvSpPr>
        <p:spPr>
          <a:xfrm>
            <a:off x="838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D0FAC77B-41C6-25BD-C14B-1A0EF7E898AF}"/>
              </a:ext>
            </a:extLst>
          </p:cNvPr>
          <p:cNvSpPr>
            <a:spLocks noGrp="1"/>
          </p:cNvSpPr>
          <p:nvPr>
            <p:ph idx="2"/>
          </p:nvPr>
        </p:nvSpPr>
        <p:spPr>
          <a:xfrm>
            <a:off x="6172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E738B466-C8AB-EF24-79FC-C543A675F508}"/>
              </a:ext>
            </a:extLst>
          </p:cNvPr>
          <p:cNvSpPr>
            <a:spLocks noGrp="1"/>
          </p:cNvSpPr>
          <p:nvPr>
            <p:ph type="dt" idx="10"/>
          </p:nvPr>
        </p:nvSpPr>
        <p:spPr/>
        <p:txBody>
          <a:bodyPr/>
          <a:lstStyle/>
          <a:p>
            <a:fld id="{67190033-2F3D-4D35-BAB2-033E00903AF8}" type="datetimeFigureOut">
              <a:t>04/10/2026</a:t>
            </a:fld>
            <a:endParaRPr/>
          </a:p>
        </p:txBody>
      </p:sp>
      <p:sp>
        <p:nvSpPr>
          <p:cNvPr id="6" name="Footer Placeholder 5">
            <a:extLst>
              <a:ext uri="{FF2B5EF4-FFF2-40B4-BE49-F238E27FC236}">
                <a16:creationId xmlns:a16="http://schemas.microsoft.com/office/drawing/2014/main" id="{ABF3AB6E-8568-53A7-31DB-204E263C4101}"/>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5DAD3571-6AB6-10E8-A603-2645593BCC6C}"/>
              </a:ext>
            </a:extLst>
          </p:cNvPr>
          <p:cNvSpPr>
            <a:spLocks noGrp="1"/>
          </p:cNvSpPr>
          <p:nvPr>
            <p:ph type="sldNum" idx="12"/>
          </p:nvPr>
        </p:nvSpPr>
        <p:spPr/>
        <p:txBody>
          <a:bodyPr/>
          <a:lstStyle/>
          <a:p>
            <a:fld id="{98CF6C54-7381-4F9B-8B8C-BE1C669C65DF}"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F25BA-E8EB-EDFD-8186-0B44D6F6E1F3}"/>
              </a:ext>
            </a:extLst>
          </p:cNvPr>
          <p:cNvSpPr>
            <a:spLocks noGrp="1"/>
          </p:cNvSpPr>
          <p:nvPr>
            <p:ph type="title"/>
          </p:nvPr>
        </p:nvSpPr>
        <p:spPr>
          <a:xfrm>
            <a:off x="839788" y="365125"/>
            <a:ext cx="10515600" cy="1325563"/>
          </a:xfrm>
        </p:spPr>
        <p:txBody>
          <a:bodyPr/>
          <a:lstStyle/>
          <a:p>
            <a:r>
              <a:t>Click to edit Master title style</a:t>
            </a:r>
          </a:p>
        </p:txBody>
      </p:sp>
      <p:sp>
        <p:nvSpPr>
          <p:cNvPr id="3" name="Text Placeholder 2">
            <a:extLst>
              <a:ext uri="{FF2B5EF4-FFF2-40B4-BE49-F238E27FC236}">
                <a16:creationId xmlns:a16="http://schemas.microsoft.com/office/drawing/2014/main" id="{798100F2-EBD7-3AC3-74CC-16F552C69D2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070A1AC7-49FA-4CEC-D875-D02D7F0D8BA9}"/>
              </a:ext>
            </a:extLst>
          </p:cNvPr>
          <p:cNvSpPr>
            <a:spLocks noGrp="1"/>
          </p:cNvSpPr>
          <p:nvPr>
            <p:ph idx="2"/>
          </p:nvPr>
        </p:nvSpPr>
        <p:spPr>
          <a:xfrm>
            <a:off x="839788" y="2505075"/>
            <a:ext cx="5157787"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D0366C83-443E-146B-7C8E-57D209711387}"/>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833673B0-CB83-1B6D-0564-BFB59CC82288}"/>
              </a:ext>
            </a:extLst>
          </p:cNvPr>
          <p:cNvSpPr>
            <a:spLocks noGrp="1"/>
          </p:cNvSpPr>
          <p:nvPr>
            <p:ph idx="4"/>
          </p:nvPr>
        </p:nvSpPr>
        <p:spPr>
          <a:xfrm>
            <a:off x="6172200" y="2505075"/>
            <a:ext cx="5183188"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F59750A0-28F5-D393-DA1C-CAEBAB0748DC}"/>
              </a:ext>
            </a:extLst>
          </p:cNvPr>
          <p:cNvSpPr>
            <a:spLocks noGrp="1"/>
          </p:cNvSpPr>
          <p:nvPr>
            <p:ph type="dt" idx="10"/>
          </p:nvPr>
        </p:nvSpPr>
        <p:spPr/>
        <p:txBody>
          <a:bodyPr/>
          <a:lstStyle/>
          <a:p>
            <a:fld id="{67190033-2F3D-4D35-BAB2-033E00903AF8}" type="datetimeFigureOut">
              <a:t>04/10/2026</a:t>
            </a:fld>
            <a:endParaRPr/>
          </a:p>
        </p:txBody>
      </p:sp>
      <p:sp>
        <p:nvSpPr>
          <p:cNvPr id="8" name="Footer Placeholder 7">
            <a:extLst>
              <a:ext uri="{FF2B5EF4-FFF2-40B4-BE49-F238E27FC236}">
                <a16:creationId xmlns:a16="http://schemas.microsoft.com/office/drawing/2014/main" id="{38641B11-B269-6C93-A6FA-DCDF84C03DED}"/>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8DDE4690-6A05-CCE2-72F8-A6BD00BB2C01}"/>
              </a:ext>
            </a:extLst>
          </p:cNvPr>
          <p:cNvSpPr>
            <a:spLocks noGrp="1"/>
          </p:cNvSpPr>
          <p:nvPr>
            <p:ph type="sldNum" idx="12"/>
          </p:nvPr>
        </p:nvSpPr>
        <p:spPr/>
        <p:txBody>
          <a:bodyPr/>
          <a:lstStyle/>
          <a:p>
            <a:fld id="{98CF6C54-7381-4F9B-8B8C-BE1C669C65DF}"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277D6D-6443-9EA8-7598-3F86DC3790CE}"/>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D6CF1A82-E2C6-F9A1-CB6D-792FB858F6B8}"/>
              </a:ext>
            </a:extLst>
          </p:cNvPr>
          <p:cNvSpPr>
            <a:spLocks noGrp="1"/>
          </p:cNvSpPr>
          <p:nvPr>
            <p:ph type="dt" idx="10"/>
          </p:nvPr>
        </p:nvSpPr>
        <p:spPr/>
        <p:txBody>
          <a:bodyPr/>
          <a:lstStyle/>
          <a:p>
            <a:fld id="{67190033-2F3D-4D35-BAB2-033E00903AF8}" type="datetimeFigureOut">
              <a:t>04/10/2026</a:t>
            </a:fld>
            <a:endParaRPr/>
          </a:p>
        </p:txBody>
      </p:sp>
      <p:sp>
        <p:nvSpPr>
          <p:cNvPr id="4" name="Footer Placeholder 3">
            <a:extLst>
              <a:ext uri="{FF2B5EF4-FFF2-40B4-BE49-F238E27FC236}">
                <a16:creationId xmlns:a16="http://schemas.microsoft.com/office/drawing/2014/main" id="{FE9E1B06-017C-B767-D968-B8BCD0D1F1C8}"/>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C31CC5E8-1080-1CC6-27E1-870841086F3E}"/>
              </a:ext>
            </a:extLst>
          </p:cNvPr>
          <p:cNvSpPr>
            <a:spLocks noGrp="1"/>
          </p:cNvSpPr>
          <p:nvPr>
            <p:ph type="sldNum" idx="12"/>
          </p:nvPr>
        </p:nvSpPr>
        <p:spPr/>
        <p:txBody>
          <a:bodyPr/>
          <a:lstStyle/>
          <a:p>
            <a:fld id="{98CF6C54-7381-4F9B-8B8C-BE1C669C65DF}"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3A0F339-F9C4-7914-33B1-E76C7A84903C}"/>
              </a:ext>
            </a:extLst>
          </p:cNvPr>
          <p:cNvSpPr>
            <a:spLocks noGrp="1"/>
          </p:cNvSpPr>
          <p:nvPr>
            <p:ph type="dt" idx="10"/>
          </p:nvPr>
        </p:nvSpPr>
        <p:spPr/>
        <p:txBody>
          <a:bodyPr/>
          <a:lstStyle/>
          <a:p>
            <a:fld id="{67190033-2F3D-4D35-BAB2-033E00903AF8}" type="datetimeFigureOut">
              <a:t>04/10/2026</a:t>
            </a:fld>
            <a:endParaRPr/>
          </a:p>
        </p:txBody>
      </p:sp>
      <p:sp>
        <p:nvSpPr>
          <p:cNvPr id="3" name="Footer Placeholder 2">
            <a:extLst>
              <a:ext uri="{FF2B5EF4-FFF2-40B4-BE49-F238E27FC236}">
                <a16:creationId xmlns:a16="http://schemas.microsoft.com/office/drawing/2014/main" id="{C5865CCF-DF82-5E0D-A32B-01ECBFA2D401}"/>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5C010168-8C36-1E34-409B-CC4D9A27C9E6}"/>
              </a:ext>
            </a:extLst>
          </p:cNvPr>
          <p:cNvSpPr>
            <a:spLocks noGrp="1"/>
          </p:cNvSpPr>
          <p:nvPr>
            <p:ph type="sldNum" idx="12"/>
          </p:nvPr>
        </p:nvSpPr>
        <p:spPr/>
        <p:txBody>
          <a:bodyPr/>
          <a:lstStyle/>
          <a:p>
            <a:fld id="{98CF6C54-7381-4F9B-8B8C-BE1C669C65DF}"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FB83F-BC26-C020-DEB9-2D1CF6492D41}"/>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Content Placeholder 2">
            <a:extLst>
              <a:ext uri="{FF2B5EF4-FFF2-40B4-BE49-F238E27FC236}">
                <a16:creationId xmlns:a16="http://schemas.microsoft.com/office/drawing/2014/main" id="{BB1C9EA1-9486-DDA2-ECBD-969624AF3EF5}"/>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4685FCEB-E5CC-E53A-07E4-DCB455233259}"/>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9DE1C1E0-3C19-EA2F-DC9B-10E3E97CB2DE}"/>
              </a:ext>
            </a:extLst>
          </p:cNvPr>
          <p:cNvSpPr>
            <a:spLocks noGrp="1"/>
          </p:cNvSpPr>
          <p:nvPr>
            <p:ph type="dt" idx="10"/>
          </p:nvPr>
        </p:nvSpPr>
        <p:spPr/>
        <p:txBody>
          <a:bodyPr/>
          <a:lstStyle/>
          <a:p>
            <a:fld id="{67190033-2F3D-4D35-BAB2-033E00903AF8}" type="datetimeFigureOut">
              <a:t>04/10/2026</a:t>
            </a:fld>
            <a:endParaRPr/>
          </a:p>
        </p:txBody>
      </p:sp>
      <p:sp>
        <p:nvSpPr>
          <p:cNvPr id="6" name="Footer Placeholder 5">
            <a:extLst>
              <a:ext uri="{FF2B5EF4-FFF2-40B4-BE49-F238E27FC236}">
                <a16:creationId xmlns:a16="http://schemas.microsoft.com/office/drawing/2014/main" id="{A957752B-F6CB-CBA9-3490-441CCC12D840}"/>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EAAB92E9-6BAF-8A8B-4F84-36136BE49891}"/>
              </a:ext>
            </a:extLst>
          </p:cNvPr>
          <p:cNvSpPr>
            <a:spLocks noGrp="1"/>
          </p:cNvSpPr>
          <p:nvPr>
            <p:ph type="sldNum" idx="12"/>
          </p:nvPr>
        </p:nvSpPr>
        <p:spPr/>
        <p:txBody>
          <a:bodyPr/>
          <a:lstStyle/>
          <a:p>
            <a:fld id="{98CF6C54-7381-4F9B-8B8C-BE1C669C65DF}"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B0F9FA-02FD-2A90-0661-897BFD20762A}"/>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Picture Placeholder 2">
            <a:extLst>
              <a:ext uri="{FF2B5EF4-FFF2-40B4-BE49-F238E27FC236}">
                <a16:creationId xmlns:a16="http://schemas.microsoft.com/office/drawing/2014/main" id="{4B5D6528-9E3F-F101-B465-03538C931D3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192487AC-8E9C-D6CF-EF8D-2CA2A888CCD8}"/>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A3F93A53-E29F-D3B8-2E7D-EA92165040C2}"/>
              </a:ext>
            </a:extLst>
          </p:cNvPr>
          <p:cNvSpPr>
            <a:spLocks noGrp="1"/>
          </p:cNvSpPr>
          <p:nvPr>
            <p:ph type="dt" idx="10"/>
          </p:nvPr>
        </p:nvSpPr>
        <p:spPr/>
        <p:txBody>
          <a:bodyPr/>
          <a:lstStyle/>
          <a:p>
            <a:fld id="{67190033-2F3D-4D35-BAB2-033E00903AF8}" type="datetimeFigureOut">
              <a:t>04/10/2026</a:t>
            </a:fld>
            <a:endParaRPr/>
          </a:p>
        </p:txBody>
      </p:sp>
      <p:sp>
        <p:nvSpPr>
          <p:cNvPr id="6" name="Footer Placeholder 5">
            <a:extLst>
              <a:ext uri="{FF2B5EF4-FFF2-40B4-BE49-F238E27FC236}">
                <a16:creationId xmlns:a16="http://schemas.microsoft.com/office/drawing/2014/main" id="{C7C797DC-2B4A-8906-3DF9-E202F03CF6FF}"/>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778F0CF6-AEAE-6B59-A9BA-EE758E0F7C9E}"/>
              </a:ext>
            </a:extLst>
          </p:cNvPr>
          <p:cNvSpPr>
            <a:spLocks noGrp="1"/>
          </p:cNvSpPr>
          <p:nvPr>
            <p:ph type="sldNum" idx="12"/>
          </p:nvPr>
        </p:nvSpPr>
        <p:spPr/>
        <p:txBody>
          <a:bodyPr/>
          <a:lstStyle/>
          <a:p>
            <a:fld id="{98CF6C54-7381-4F9B-8B8C-BE1C669C65DF}"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DE101-ED70-38AD-316B-BA700D4DA9FD}"/>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E8E23C60-B270-E880-EB95-734E89AB73F9}"/>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1936B3AE-80F7-177B-B213-2A9859F5BE71}"/>
              </a:ext>
            </a:extLst>
          </p:cNvPr>
          <p:cNvSpPr>
            <a:spLocks noGrp="1"/>
          </p:cNvSpPr>
          <p:nvPr>
            <p:ph type="dt" idx="10"/>
          </p:nvPr>
        </p:nvSpPr>
        <p:spPr/>
        <p:txBody>
          <a:bodyPr/>
          <a:lstStyle/>
          <a:p>
            <a:fld id="{67190033-2F3D-4D35-BAB2-033E00903AF8}" type="datetimeFigureOut">
              <a:t>04/10/2026</a:t>
            </a:fld>
            <a:endParaRPr/>
          </a:p>
        </p:txBody>
      </p:sp>
      <p:sp>
        <p:nvSpPr>
          <p:cNvPr id="5" name="Footer Placeholder 4">
            <a:extLst>
              <a:ext uri="{FF2B5EF4-FFF2-40B4-BE49-F238E27FC236}">
                <a16:creationId xmlns:a16="http://schemas.microsoft.com/office/drawing/2014/main" id="{50DE4D89-6AF1-9A7A-8326-DB42F7C0164E}"/>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5871C8E3-4011-76DB-D5FF-17168397074A}"/>
              </a:ext>
            </a:extLst>
          </p:cNvPr>
          <p:cNvSpPr>
            <a:spLocks noGrp="1"/>
          </p:cNvSpPr>
          <p:nvPr>
            <p:ph type="sldNum" idx="12"/>
          </p:nvPr>
        </p:nvSpPr>
        <p:spPr/>
        <p:txBody>
          <a:bodyPr/>
          <a:lstStyle/>
          <a:p>
            <a:fld id="{98CF6C54-7381-4F9B-8B8C-BE1C669C65DF}"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CF543E9-6F34-870B-63E5-87DC38FDD6E6}"/>
              </a:ext>
            </a:extLst>
          </p:cNvPr>
          <p:cNvSpPr>
            <a:spLocks noGrp="1"/>
          </p:cNvSpPr>
          <p:nvPr>
            <p:ph type="title"/>
          </p:nvPr>
        </p:nvSpPr>
        <p:spPr>
          <a:xfrm>
            <a:off x="8724900" y="365125"/>
            <a:ext cx="2628900" cy="5811838"/>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C8C7AF80-BDE4-D994-41D8-3C60BFF1C6F7}"/>
              </a:ext>
            </a:extLst>
          </p:cNvPr>
          <p:cNvSpPr>
            <a:spLocks noGrp="1"/>
          </p:cNvSpPr>
          <p:nvPr>
            <p:ph type="body" idx="1"/>
          </p:nvPr>
        </p:nvSpPr>
        <p:spPr>
          <a:xfrm>
            <a:off x="838200" y="365125"/>
            <a:ext cx="7734300" cy="5811838"/>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0BB4F2D1-61C1-DF92-1BE4-E1CD72CB1F91}"/>
              </a:ext>
            </a:extLst>
          </p:cNvPr>
          <p:cNvSpPr>
            <a:spLocks noGrp="1"/>
          </p:cNvSpPr>
          <p:nvPr>
            <p:ph type="dt" idx="10"/>
          </p:nvPr>
        </p:nvSpPr>
        <p:spPr/>
        <p:txBody>
          <a:bodyPr/>
          <a:lstStyle/>
          <a:p>
            <a:fld id="{67190033-2F3D-4D35-BAB2-033E00903AF8}" type="datetimeFigureOut">
              <a:t>04/10/2026</a:t>
            </a:fld>
            <a:endParaRPr/>
          </a:p>
        </p:txBody>
      </p:sp>
      <p:sp>
        <p:nvSpPr>
          <p:cNvPr id="5" name="Footer Placeholder 4">
            <a:extLst>
              <a:ext uri="{FF2B5EF4-FFF2-40B4-BE49-F238E27FC236}">
                <a16:creationId xmlns:a16="http://schemas.microsoft.com/office/drawing/2014/main" id="{1130A238-1057-994D-E914-F3612FE53F26}"/>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4BFE544A-3E80-338A-5F25-190BD70DD7FB}"/>
              </a:ext>
            </a:extLst>
          </p:cNvPr>
          <p:cNvSpPr>
            <a:spLocks noGrp="1"/>
          </p:cNvSpPr>
          <p:nvPr>
            <p:ph type="sldNum" idx="12"/>
          </p:nvPr>
        </p:nvSpPr>
        <p:spPr/>
        <p:txBody>
          <a:bodyPr/>
          <a:lstStyle/>
          <a:p>
            <a:fld id="{98CF6C54-7381-4F9B-8B8C-BE1C669C65DF}"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51FB008-C67D-F174-CFF2-922C58AB9E8A}"/>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F4EEAC51-ED7C-28DF-1046-EC4C37392F9A}"/>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702B9308-4397-4205-2508-2932ADB64145}"/>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82000"/>
                  </a:schemeClr>
                </a:solidFill>
              </a:defRPr>
            </a:lvl1pPr>
          </a:lstStyle>
          <a:p>
            <a:fld id="{67190033-2F3D-4D35-BAB2-033E00903AF8}" type="datetimeFigureOut">
              <a:t>04/10/2026</a:t>
            </a:fld>
            <a:endParaRPr/>
          </a:p>
        </p:txBody>
      </p:sp>
      <p:sp>
        <p:nvSpPr>
          <p:cNvPr id="5" name="Footer Placeholder 4">
            <a:extLst>
              <a:ext uri="{FF2B5EF4-FFF2-40B4-BE49-F238E27FC236}">
                <a16:creationId xmlns:a16="http://schemas.microsoft.com/office/drawing/2014/main" id="{86404D4A-6E02-7F78-F75F-D9E6F7912D01}"/>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82000"/>
                  </a:schemeClr>
                </a:solidFill>
              </a:defRPr>
            </a:lvl1pPr>
          </a:lstStyle>
          <a:p>
            <a:endParaRPr/>
          </a:p>
        </p:txBody>
      </p:sp>
      <p:sp>
        <p:nvSpPr>
          <p:cNvPr id="6" name="Slide Number Placeholder 5">
            <a:extLst>
              <a:ext uri="{FF2B5EF4-FFF2-40B4-BE49-F238E27FC236}">
                <a16:creationId xmlns:a16="http://schemas.microsoft.com/office/drawing/2014/main" id="{382D0A3F-0F22-FDC3-740F-F85A2F774C27}"/>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82000"/>
                  </a:schemeClr>
                </a:solidFill>
              </a:defRPr>
            </a:lvl1pPr>
          </a:lstStyle>
          <a:p>
            <a:fld id="{98CF6C54-7381-4F9B-8B8C-BE1C669C65DF}"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A0137D2-9758-D2F3-B341-DAA256707E3D}"/>
              </a:ext>
            </a:extLst>
          </p:cNvPr>
          <p:cNvSpPr>
            <a:spLocks noGrp="1"/>
          </p:cNvSpPr>
          <p:nvPr/>
        </p:nvSpPr>
        <p:spPr>
          <a:xfrm>
            <a:off x="381000" y="406400"/>
            <a:ext cx="101600" cy="5969000"/>
          </a:xfrm>
          <a:prstGeom prst="rect">
            <a:avLst/>
          </a:prstGeom>
          <a:solidFill>
            <a:srgbClr val="3D8DFF"/>
          </a:solidFill>
          <a:ln w="1905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C9F6D6B6-8CF0-5F98-8B2E-31E620D3ADE3}"/>
              </a:ext>
            </a:extLst>
          </p:cNvPr>
          <p:cNvSpPr>
            <a:spLocks noGrp="1"/>
          </p:cNvSpPr>
          <p:nvPr/>
        </p:nvSpPr>
        <p:spPr>
          <a:xfrm>
            <a:off x="736600" y="457200"/>
            <a:ext cx="4572000" cy="276999"/>
          </a:xfrm>
          <a:prstGeom prst="rect">
            <a:avLst/>
          </a:prstGeom>
          <a:noFill/>
        </p:spPr>
        <p:txBody>
          <a:bodyPr vert="horz" lIns="0" tIns="0" rIns="0" bIns="0" anchor="t">
            <a:spAutoFit/>
          </a:bodyPr>
          <a:lstStyle/>
          <a:p>
            <a:r>
              <a:rPr b="1">
                <a:solidFill>
                  <a:srgbClr val="3D8DFF"/>
                </a:solidFill>
                <a:latin typeface="Arial"/>
                <a:ea typeface="Arial"/>
                <a:cs typeface="Arial"/>
              </a:rPr>
              <a:t>CODEML 2026 | JADCO | serafii</a:t>
            </a:r>
          </a:p>
        </p:txBody>
      </p:sp>
      <p:sp>
        <p:nvSpPr>
          <p:cNvPr id="4" name="TextBox 3">
            <a:extLst>
              <a:ext uri="{FF2B5EF4-FFF2-40B4-BE49-F238E27FC236}">
                <a16:creationId xmlns:a16="http://schemas.microsoft.com/office/drawing/2014/main" id="{703213F5-C08D-2711-4DBD-381DB130A083}"/>
              </a:ext>
            </a:extLst>
          </p:cNvPr>
          <p:cNvSpPr>
            <a:spLocks noGrp="1"/>
          </p:cNvSpPr>
          <p:nvPr/>
        </p:nvSpPr>
        <p:spPr>
          <a:xfrm>
            <a:off x="736600" y="1841500"/>
            <a:ext cx="9652000" cy="1661993"/>
          </a:xfrm>
          <a:prstGeom prst="rect">
            <a:avLst/>
          </a:prstGeom>
          <a:noFill/>
        </p:spPr>
        <p:txBody>
          <a:bodyPr vert="horz" lIns="0" tIns="0" rIns="0" bIns="0" anchor="t">
            <a:spAutoFit/>
          </a:bodyPr>
          <a:lstStyle/>
          <a:p>
            <a:r>
              <a:rPr sz="5400" b="1">
                <a:solidFill>
                  <a:srgbClr val="000000"/>
                </a:solidFill>
                <a:latin typeface="Arial"/>
                <a:ea typeface="Arial"/>
                <a:cs typeface="Arial"/>
              </a:rPr>
              <a:t>Collection Équinoxe:
2026 rent forecast</a:t>
            </a:r>
          </a:p>
        </p:txBody>
      </p:sp>
      <p:sp>
        <p:nvSpPr>
          <p:cNvPr id="5" name="TextBox 4">
            <a:extLst>
              <a:ext uri="{FF2B5EF4-FFF2-40B4-BE49-F238E27FC236}">
                <a16:creationId xmlns:a16="http://schemas.microsoft.com/office/drawing/2014/main" id="{189215FB-2E09-F638-3EC9-484552285A0E}"/>
              </a:ext>
            </a:extLst>
          </p:cNvPr>
          <p:cNvSpPr>
            <a:spLocks noGrp="1"/>
          </p:cNvSpPr>
          <p:nvPr/>
        </p:nvSpPr>
        <p:spPr>
          <a:xfrm>
            <a:off x="736600" y="4610794"/>
            <a:ext cx="8255000" cy="400110"/>
          </a:xfrm>
          <a:prstGeom prst="rect">
            <a:avLst/>
          </a:prstGeom>
          <a:noFill/>
        </p:spPr>
        <p:txBody>
          <a:bodyPr vert="horz" lIns="0" tIns="0" rIns="0" bIns="0" anchor="t">
            <a:spAutoFit/>
          </a:bodyPr>
          <a:lstStyle/>
          <a:p>
            <a:r>
              <a:rPr sz="2600">
                <a:solidFill>
                  <a:srgbClr val="000000"/>
                </a:solidFill>
                <a:latin typeface="Arial"/>
                <a:ea typeface="Arial"/>
                <a:cs typeface="Arial"/>
              </a:rPr>
              <a:t>Final estimate: 2.46%</a:t>
            </a:r>
          </a:p>
        </p:txBody>
      </p:sp>
      <p:sp>
        <p:nvSpPr>
          <p:cNvPr id="6" name="TextBox 5">
            <a:extLst>
              <a:ext uri="{FF2B5EF4-FFF2-40B4-BE49-F238E27FC236}">
                <a16:creationId xmlns:a16="http://schemas.microsoft.com/office/drawing/2014/main" id="{8AC094E6-3061-96F4-C1DB-91719EC6632C}"/>
              </a:ext>
            </a:extLst>
          </p:cNvPr>
          <p:cNvSpPr>
            <a:spLocks noGrp="1"/>
          </p:cNvSpPr>
          <p:nvPr/>
        </p:nvSpPr>
        <p:spPr>
          <a:xfrm>
            <a:off x="736600" y="5168900"/>
            <a:ext cx="8890000" cy="292388"/>
          </a:xfrm>
          <a:prstGeom prst="rect">
            <a:avLst/>
          </a:prstGeom>
          <a:noFill/>
        </p:spPr>
        <p:txBody>
          <a:bodyPr vert="horz" lIns="0" tIns="0" rIns="0" bIns="0" anchor="t">
            <a:spAutoFit/>
          </a:bodyPr>
          <a:lstStyle/>
          <a:p>
            <a:r>
              <a:rPr sz="1900">
                <a:solidFill>
                  <a:srgbClr val="4C525B"/>
                </a:solidFill>
                <a:latin typeface="Arial"/>
                <a:ea typeface="Arial"/>
                <a:cs typeface="Arial"/>
              </a:rPr>
              <a:t>Same-unit effective-rent growth</a:t>
            </a:r>
          </a:p>
        </p:txBody>
      </p:sp>
    </p:spTree>
    <p:extLst>
      <p:ext uri="{BB962C8B-B14F-4D97-AF65-F5344CB8AC3E}">
        <p14:creationId xmlns:p14="http://schemas.microsoft.com/office/powerpoint/2010/main" val="21679147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79E521D-D6B2-EC52-9FD9-52F7680F533A}"/>
              </a:ext>
            </a:extLst>
          </p:cNvPr>
          <p:cNvSpPr>
            <a:spLocks noGrp="1"/>
          </p:cNvSpPr>
          <p:nvPr/>
        </p:nvSpPr>
        <p:spPr>
          <a:xfrm>
            <a:off x="381000" y="330200"/>
            <a:ext cx="11303000" cy="553998"/>
          </a:xfrm>
          <a:prstGeom prst="rect">
            <a:avLst/>
          </a:prstGeom>
          <a:noFill/>
        </p:spPr>
        <p:txBody>
          <a:bodyPr vert="horz" lIns="0" tIns="0" rIns="0" bIns="0" anchor="t">
            <a:spAutoFit/>
          </a:bodyPr>
          <a:lstStyle/>
          <a:p>
            <a:r>
              <a:rPr sz="3600" b="1">
                <a:solidFill>
                  <a:srgbClr val="000000"/>
                </a:solidFill>
                <a:latin typeface="Arial"/>
                <a:ea typeface="Arial"/>
                <a:cs typeface="Arial"/>
              </a:rPr>
              <a:t>Unit-mix changes make yearly medians misleading</a:t>
            </a:r>
          </a:p>
        </p:txBody>
      </p:sp>
      <p:sp>
        <p:nvSpPr>
          <p:cNvPr id="5" name="Rectangle 4">
            <a:extLst>
              <a:ext uri="{FF2B5EF4-FFF2-40B4-BE49-F238E27FC236}">
                <a16:creationId xmlns:a16="http://schemas.microsoft.com/office/drawing/2014/main" id="{ADB75701-1722-2036-12C8-752E5C82A6FB}"/>
              </a:ext>
            </a:extLst>
          </p:cNvPr>
          <p:cNvSpPr>
            <a:spLocks noGrp="1"/>
          </p:cNvSpPr>
          <p:nvPr/>
        </p:nvSpPr>
        <p:spPr>
          <a:xfrm>
            <a:off x="8382000" y="1587500"/>
            <a:ext cx="3175000" cy="1460500"/>
          </a:xfrm>
          <a:prstGeom prst="rect">
            <a:avLst/>
          </a:prstGeom>
          <a:solidFill>
            <a:srgbClr val="EDEDED"/>
          </a:solidFill>
          <a:ln w="1905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7401F925-79AA-A638-CD40-01C14156D7DC}"/>
              </a:ext>
            </a:extLst>
          </p:cNvPr>
          <p:cNvSpPr>
            <a:spLocks noGrp="1"/>
          </p:cNvSpPr>
          <p:nvPr/>
        </p:nvSpPr>
        <p:spPr>
          <a:xfrm>
            <a:off x="8636000" y="1816100"/>
            <a:ext cx="2540000" cy="523220"/>
          </a:xfrm>
          <a:prstGeom prst="rect">
            <a:avLst/>
          </a:prstGeom>
          <a:noFill/>
        </p:spPr>
        <p:txBody>
          <a:bodyPr vert="horz" lIns="0" tIns="0" rIns="0" bIns="0" anchor="t">
            <a:spAutoFit/>
          </a:bodyPr>
          <a:lstStyle/>
          <a:p>
            <a:r>
              <a:rPr sz="3400" b="1">
                <a:solidFill>
                  <a:srgbClr val="000000"/>
                </a:solidFill>
                <a:latin typeface="Arial"/>
                <a:ea typeface="Arial"/>
                <a:cs typeface="Arial"/>
              </a:rPr>
              <a:t>10.85%</a:t>
            </a:r>
          </a:p>
        </p:txBody>
      </p:sp>
      <p:sp>
        <p:nvSpPr>
          <p:cNvPr id="7" name="TextBox 6">
            <a:extLst>
              <a:ext uri="{FF2B5EF4-FFF2-40B4-BE49-F238E27FC236}">
                <a16:creationId xmlns:a16="http://schemas.microsoft.com/office/drawing/2014/main" id="{5923B0DF-67DD-BDB8-A39D-AB5F8DFAAC06}"/>
              </a:ext>
            </a:extLst>
          </p:cNvPr>
          <p:cNvSpPr>
            <a:spLocks noGrp="1"/>
          </p:cNvSpPr>
          <p:nvPr/>
        </p:nvSpPr>
        <p:spPr>
          <a:xfrm>
            <a:off x="8636000" y="2425700"/>
            <a:ext cx="2603500" cy="523220"/>
          </a:xfrm>
          <a:prstGeom prst="rect">
            <a:avLst/>
          </a:prstGeom>
          <a:noFill/>
        </p:spPr>
        <p:txBody>
          <a:bodyPr vert="horz" lIns="0" tIns="0" rIns="0" bIns="0" anchor="t">
            <a:spAutoFit/>
          </a:bodyPr>
          <a:lstStyle/>
          <a:p>
            <a:r>
              <a:rPr sz="1700">
                <a:solidFill>
                  <a:srgbClr val="4C525B"/>
                </a:solidFill>
                <a:latin typeface="Arial"/>
                <a:ea typeface="Arial"/>
                <a:cs typeface="Arial"/>
              </a:rPr>
              <a:t>Naive 2023 median increase</a:t>
            </a:r>
          </a:p>
        </p:txBody>
      </p:sp>
      <p:sp>
        <p:nvSpPr>
          <p:cNvPr id="8" name="Rectangle 7">
            <a:extLst>
              <a:ext uri="{FF2B5EF4-FFF2-40B4-BE49-F238E27FC236}">
                <a16:creationId xmlns:a16="http://schemas.microsoft.com/office/drawing/2014/main" id="{ECBE9265-FB12-04CB-B2D6-A1208BC4A9CE}"/>
              </a:ext>
            </a:extLst>
          </p:cNvPr>
          <p:cNvSpPr>
            <a:spLocks noGrp="1"/>
          </p:cNvSpPr>
          <p:nvPr/>
        </p:nvSpPr>
        <p:spPr>
          <a:xfrm>
            <a:off x="8382000" y="3302000"/>
            <a:ext cx="3175000" cy="1460500"/>
          </a:xfrm>
          <a:prstGeom prst="rect">
            <a:avLst/>
          </a:prstGeom>
          <a:solidFill>
            <a:srgbClr val="D0EDFA"/>
          </a:solidFill>
          <a:ln w="1905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B3AAD59-7BD3-0E11-EC10-B370EF956AC4}"/>
              </a:ext>
            </a:extLst>
          </p:cNvPr>
          <p:cNvSpPr>
            <a:spLocks noGrp="1"/>
          </p:cNvSpPr>
          <p:nvPr/>
        </p:nvSpPr>
        <p:spPr>
          <a:xfrm>
            <a:off x="8636000" y="3530600"/>
            <a:ext cx="2540000" cy="523220"/>
          </a:xfrm>
          <a:prstGeom prst="rect">
            <a:avLst/>
          </a:prstGeom>
          <a:noFill/>
        </p:spPr>
        <p:txBody>
          <a:bodyPr vert="horz" lIns="0" tIns="0" rIns="0" bIns="0" anchor="t">
            <a:spAutoFit/>
          </a:bodyPr>
          <a:lstStyle/>
          <a:p>
            <a:r>
              <a:rPr sz="3400" b="1">
                <a:solidFill>
                  <a:srgbClr val="000000"/>
                </a:solidFill>
                <a:latin typeface="Arial"/>
                <a:ea typeface="Arial"/>
                <a:cs typeface="Arial"/>
              </a:rPr>
              <a:t>2.29%</a:t>
            </a:r>
          </a:p>
        </p:txBody>
      </p:sp>
      <p:sp>
        <p:nvSpPr>
          <p:cNvPr id="10" name="TextBox 9">
            <a:extLst>
              <a:ext uri="{FF2B5EF4-FFF2-40B4-BE49-F238E27FC236}">
                <a16:creationId xmlns:a16="http://schemas.microsoft.com/office/drawing/2014/main" id="{F5B345C9-7EE9-3D7D-1779-2599DA642630}"/>
              </a:ext>
            </a:extLst>
          </p:cNvPr>
          <p:cNvSpPr>
            <a:spLocks noGrp="1"/>
          </p:cNvSpPr>
          <p:nvPr/>
        </p:nvSpPr>
        <p:spPr>
          <a:xfrm>
            <a:off x="8636000" y="4140200"/>
            <a:ext cx="2603500" cy="523220"/>
          </a:xfrm>
          <a:prstGeom prst="rect">
            <a:avLst/>
          </a:prstGeom>
          <a:noFill/>
        </p:spPr>
        <p:txBody>
          <a:bodyPr vert="horz" lIns="0" tIns="0" rIns="0" bIns="0" anchor="t">
            <a:spAutoFit/>
          </a:bodyPr>
          <a:lstStyle/>
          <a:p>
            <a:r>
              <a:rPr sz="1700">
                <a:solidFill>
                  <a:srgbClr val="4C525B"/>
                </a:solidFill>
                <a:latin typeface="Arial"/>
                <a:ea typeface="Arial"/>
                <a:cs typeface="Arial"/>
              </a:rPr>
              <a:t>Same-unit contractual growth</a:t>
            </a:r>
          </a:p>
        </p:txBody>
      </p:sp>
      <p:sp>
        <p:nvSpPr>
          <p:cNvPr id="11" name="TextBox 10">
            <a:extLst>
              <a:ext uri="{FF2B5EF4-FFF2-40B4-BE49-F238E27FC236}">
                <a16:creationId xmlns:a16="http://schemas.microsoft.com/office/drawing/2014/main" id="{596ADD79-D588-8361-864B-092C77B37BB8}"/>
              </a:ext>
            </a:extLst>
          </p:cNvPr>
          <p:cNvSpPr>
            <a:spLocks noGrp="1"/>
          </p:cNvSpPr>
          <p:nvPr/>
        </p:nvSpPr>
        <p:spPr>
          <a:xfrm>
            <a:off x="381000" y="5651500"/>
            <a:ext cx="9906000" cy="338554"/>
          </a:xfrm>
          <a:prstGeom prst="rect">
            <a:avLst/>
          </a:prstGeom>
          <a:noFill/>
        </p:spPr>
        <p:txBody>
          <a:bodyPr vert="horz" lIns="0" tIns="0" rIns="0" bIns="0" anchor="t">
            <a:spAutoFit/>
          </a:bodyPr>
          <a:lstStyle/>
          <a:p>
            <a:r>
              <a:rPr sz="2200" b="1">
                <a:solidFill>
                  <a:srgbClr val="000000"/>
                </a:solidFill>
                <a:latin typeface="Arial"/>
                <a:ea typeface="Arial"/>
                <a:cs typeface="Arial"/>
              </a:rPr>
              <a:t>The forecast therefore compares each apartment with itself.</a:t>
            </a:r>
          </a:p>
        </p:txBody>
      </p:sp>
      <p:sp>
        <p:nvSpPr>
          <p:cNvPr id="12" name="TextBox 11">
            <a:extLst>
              <a:ext uri="{FF2B5EF4-FFF2-40B4-BE49-F238E27FC236}">
                <a16:creationId xmlns:a16="http://schemas.microsoft.com/office/drawing/2014/main" id="{7203CCB5-D260-7457-9ACC-84CAFAAA726E}"/>
              </a:ext>
            </a:extLst>
          </p:cNvPr>
          <p:cNvSpPr>
            <a:spLocks noGrp="1"/>
          </p:cNvSpPr>
          <p:nvPr/>
        </p:nvSpPr>
        <p:spPr>
          <a:xfrm>
            <a:off x="11493500" y="6502400"/>
            <a:ext cx="254000" cy="138499"/>
          </a:xfrm>
          <a:prstGeom prst="rect">
            <a:avLst/>
          </a:prstGeom>
          <a:noFill/>
        </p:spPr>
        <p:txBody>
          <a:bodyPr vert="horz" lIns="0" tIns="0" rIns="0" bIns="0" anchor="t">
            <a:spAutoFit/>
          </a:bodyPr>
          <a:lstStyle/>
          <a:p>
            <a:pPr algn="r">
              <a:buNone/>
            </a:pPr>
            <a:r>
              <a:rPr sz="900">
                <a:solidFill>
                  <a:srgbClr val="4C525B"/>
                </a:solidFill>
                <a:latin typeface="Arial"/>
                <a:ea typeface="Arial"/>
                <a:cs typeface="Arial"/>
              </a:rPr>
              <a:t>2</a:t>
            </a:r>
          </a:p>
        </p:txBody>
      </p:sp>
      <p:graphicFrame>
        <p:nvGraphicFramePr>
          <p:cNvPr id="23" name="Portfolio median versus same-unit growth"/>
          <p:cNvGraphicFramePr/>
          <p:nvPr/>
        </p:nvGraphicFramePr>
        <p:xfrm>
          <a:off x="523875" y="1428750"/>
          <a:ext cx="7334250" cy="371475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9647883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3A17B94-AE2B-0FBD-A2B4-3FDFD3B39FF0}"/>
              </a:ext>
            </a:extLst>
          </p:cNvPr>
          <p:cNvSpPr>
            <a:spLocks noGrp="1"/>
          </p:cNvSpPr>
          <p:nvPr/>
        </p:nvSpPr>
        <p:spPr>
          <a:xfrm>
            <a:off x="444500" y="488097"/>
            <a:ext cx="11303000" cy="553998"/>
          </a:xfrm>
          <a:prstGeom prst="rect">
            <a:avLst/>
          </a:prstGeom>
          <a:noFill/>
        </p:spPr>
        <p:txBody>
          <a:bodyPr vert="horz" lIns="0" tIns="0" rIns="0" bIns="0" anchor="t">
            <a:spAutoFit/>
          </a:bodyPr>
          <a:lstStyle/>
          <a:p>
            <a:r>
              <a:rPr sz="3600" b="1">
                <a:solidFill>
                  <a:srgbClr val="000000"/>
                </a:solidFill>
                <a:latin typeface="Arial"/>
                <a:ea typeface="Arial"/>
                <a:cs typeface="Arial"/>
              </a:rPr>
              <a:t>The forecast uses one simple rule every year</a:t>
            </a:r>
          </a:p>
        </p:txBody>
      </p:sp>
      <p:sp>
        <p:nvSpPr>
          <p:cNvPr id="3" name="TextBox 2">
            <a:extLst>
              <a:ext uri="{FF2B5EF4-FFF2-40B4-BE49-F238E27FC236}">
                <a16:creationId xmlns:a16="http://schemas.microsoft.com/office/drawing/2014/main" id="{ED82B68D-4A54-C8D2-02A3-99D411FB66A6}"/>
              </a:ext>
            </a:extLst>
          </p:cNvPr>
          <p:cNvSpPr>
            <a:spLocks noGrp="1"/>
          </p:cNvSpPr>
          <p:nvPr/>
        </p:nvSpPr>
        <p:spPr>
          <a:xfrm>
            <a:off x="508000" y="1587500"/>
            <a:ext cx="1143000" cy="584775"/>
          </a:xfrm>
          <a:prstGeom prst="rect">
            <a:avLst/>
          </a:prstGeom>
          <a:noFill/>
        </p:spPr>
        <p:txBody>
          <a:bodyPr vert="horz" lIns="0" tIns="0" rIns="0" bIns="0" anchor="t">
            <a:spAutoFit/>
          </a:bodyPr>
          <a:lstStyle/>
          <a:p>
            <a:r>
              <a:rPr sz="3800" b="1">
                <a:solidFill>
                  <a:srgbClr val="3D8DFF"/>
                </a:solidFill>
                <a:latin typeface="Arial"/>
                <a:ea typeface="Arial"/>
                <a:cs typeface="Arial"/>
              </a:rPr>
              <a:t>01</a:t>
            </a:r>
          </a:p>
        </p:txBody>
      </p:sp>
      <p:sp>
        <p:nvSpPr>
          <p:cNvPr id="4" name="Straight Connector 3">
            <a:extLst>
              <a:ext uri="{FF2B5EF4-FFF2-40B4-BE49-F238E27FC236}">
                <a16:creationId xmlns:a16="http://schemas.microsoft.com/office/drawing/2014/main" id="{C12C7D74-3E84-47B0-A49F-44337BCD9467}"/>
              </a:ext>
            </a:extLst>
          </p:cNvPr>
          <p:cNvSpPr>
            <a:spLocks noGrp="1"/>
          </p:cNvSpPr>
          <p:nvPr/>
        </p:nvSpPr>
        <p:spPr>
          <a:xfrm>
            <a:off x="508000" y="2476500"/>
            <a:ext cx="2984500" cy="0"/>
          </a:xfrm>
          <a:prstGeom prst="line">
            <a:avLst/>
          </a:prstGeom>
          <a:ln w="12700">
            <a:solidFill>
              <a:srgbClr val="B8BCC4"/>
            </a:solidFill>
          </a:ln>
        </p:spPr>
        <p:style>
          <a:lnRef idx="2">
            <a:schemeClr val="accent1"/>
          </a:lnRef>
          <a:fillRef idx="0">
            <a:schemeClr val="accent1"/>
          </a:fillRef>
          <a:effectRef idx="1">
            <a:schemeClr val="accent1"/>
          </a:effectRef>
          <a:fontRef idx="minor">
            <a:schemeClr val="tx1"/>
          </a:fontRef>
        </p:style>
        <p:txBody>
          <a:bodyPr/>
          <a:lstStyle/>
          <a:p>
            <a:endParaRPr lang="fr-CA"/>
          </a:p>
        </p:txBody>
      </p:sp>
      <p:sp>
        <p:nvSpPr>
          <p:cNvPr id="5" name="TextBox 4">
            <a:extLst>
              <a:ext uri="{FF2B5EF4-FFF2-40B4-BE49-F238E27FC236}">
                <a16:creationId xmlns:a16="http://schemas.microsoft.com/office/drawing/2014/main" id="{7E7D48C6-C6F1-EF7C-1C3A-9DB35B5A606C}"/>
              </a:ext>
            </a:extLst>
          </p:cNvPr>
          <p:cNvSpPr>
            <a:spLocks noGrp="1"/>
          </p:cNvSpPr>
          <p:nvPr/>
        </p:nvSpPr>
        <p:spPr>
          <a:xfrm>
            <a:off x="508000" y="2794000"/>
            <a:ext cx="3111500" cy="369332"/>
          </a:xfrm>
          <a:prstGeom prst="rect">
            <a:avLst/>
          </a:prstGeom>
          <a:noFill/>
        </p:spPr>
        <p:txBody>
          <a:bodyPr vert="horz" lIns="0" tIns="0" rIns="0" bIns="0" anchor="t">
            <a:spAutoFit/>
          </a:bodyPr>
          <a:lstStyle/>
          <a:p>
            <a:r>
              <a:rPr sz="2400" b="1">
                <a:solidFill>
                  <a:srgbClr val="000000"/>
                </a:solidFill>
                <a:latin typeface="Arial"/>
                <a:ea typeface="Arial"/>
                <a:cs typeface="Arial"/>
              </a:rPr>
              <a:t>Match the same unit</a:t>
            </a:r>
          </a:p>
        </p:txBody>
      </p:sp>
      <p:sp>
        <p:nvSpPr>
          <p:cNvPr id="6" name="TextBox 5">
            <a:extLst>
              <a:ext uri="{FF2B5EF4-FFF2-40B4-BE49-F238E27FC236}">
                <a16:creationId xmlns:a16="http://schemas.microsoft.com/office/drawing/2014/main" id="{D6B0C64B-8E0F-51D6-4B67-016D1951A135}"/>
              </a:ext>
            </a:extLst>
          </p:cNvPr>
          <p:cNvSpPr>
            <a:spLocks noGrp="1"/>
          </p:cNvSpPr>
          <p:nvPr/>
        </p:nvSpPr>
        <p:spPr>
          <a:xfrm>
            <a:off x="508000" y="3810000"/>
            <a:ext cx="3111500" cy="830997"/>
          </a:xfrm>
          <a:prstGeom prst="rect">
            <a:avLst/>
          </a:prstGeom>
          <a:noFill/>
        </p:spPr>
        <p:txBody>
          <a:bodyPr vert="horz" lIns="0" tIns="0" rIns="0" bIns="0" anchor="t">
            <a:spAutoFit/>
          </a:bodyPr>
          <a:lstStyle/>
          <a:p>
            <a:r>
              <a:rPr>
                <a:solidFill>
                  <a:srgbClr val="4C525B"/>
                </a:solidFill>
                <a:latin typeface="Arial"/>
                <a:ea typeface="Arial"/>
                <a:cs typeface="Arial"/>
              </a:rPr>
              <a:t>Use sPropCode + sUnitCode.
Keep gaps from 0.5 to 2.5 years.</a:t>
            </a:r>
          </a:p>
        </p:txBody>
      </p:sp>
      <p:sp>
        <p:nvSpPr>
          <p:cNvPr id="7" name="TextBox 6">
            <a:extLst>
              <a:ext uri="{FF2B5EF4-FFF2-40B4-BE49-F238E27FC236}">
                <a16:creationId xmlns:a16="http://schemas.microsoft.com/office/drawing/2014/main" id="{9E0E853A-5E49-7842-72DE-0BE2471EA245}"/>
              </a:ext>
            </a:extLst>
          </p:cNvPr>
          <p:cNvSpPr>
            <a:spLocks noGrp="1"/>
          </p:cNvSpPr>
          <p:nvPr/>
        </p:nvSpPr>
        <p:spPr>
          <a:xfrm>
            <a:off x="4318000" y="1587500"/>
            <a:ext cx="1143000" cy="584775"/>
          </a:xfrm>
          <a:prstGeom prst="rect">
            <a:avLst/>
          </a:prstGeom>
          <a:noFill/>
        </p:spPr>
        <p:txBody>
          <a:bodyPr vert="horz" lIns="0" tIns="0" rIns="0" bIns="0" anchor="t">
            <a:spAutoFit/>
          </a:bodyPr>
          <a:lstStyle/>
          <a:p>
            <a:r>
              <a:rPr sz="3800" b="1">
                <a:solidFill>
                  <a:srgbClr val="3D8DFF"/>
                </a:solidFill>
                <a:latin typeface="Arial"/>
                <a:ea typeface="Arial"/>
                <a:cs typeface="Arial"/>
              </a:rPr>
              <a:t>02</a:t>
            </a:r>
          </a:p>
        </p:txBody>
      </p:sp>
      <p:sp>
        <p:nvSpPr>
          <p:cNvPr id="8" name="Straight Connector 7">
            <a:extLst>
              <a:ext uri="{FF2B5EF4-FFF2-40B4-BE49-F238E27FC236}">
                <a16:creationId xmlns:a16="http://schemas.microsoft.com/office/drawing/2014/main" id="{19EDA390-9097-4154-82DF-9BE1E1DD7AB7}"/>
              </a:ext>
            </a:extLst>
          </p:cNvPr>
          <p:cNvSpPr>
            <a:spLocks noGrp="1"/>
          </p:cNvSpPr>
          <p:nvPr/>
        </p:nvSpPr>
        <p:spPr>
          <a:xfrm>
            <a:off x="4318000" y="2476500"/>
            <a:ext cx="2984500" cy="0"/>
          </a:xfrm>
          <a:prstGeom prst="line">
            <a:avLst/>
          </a:prstGeom>
          <a:ln w="12700">
            <a:solidFill>
              <a:srgbClr val="B8BCC4"/>
            </a:solidFill>
          </a:ln>
        </p:spPr>
        <p:style>
          <a:lnRef idx="2">
            <a:schemeClr val="accent1"/>
          </a:lnRef>
          <a:fillRef idx="0">
            <a:schemeClr val="accent1"/>
          </a:fillRef>
          <a:effectRef idx="1">
            <a:schemeClr val="accent1"/>
          </a:effectRef>
          <a:fontRef idx="minor">
            <a:schemeClr val="tx1"/>
          </a:fontRef>
        </p:style>
        <p:txBody>
          <a:bodyPr/>
          <a:lstStyle/>
          <a:p>
            <a:endParaRPr lang="fr-CA"/>
          </a:p>
        </p:txBody>
      </p:sp>
      <p:sp>
        <p:nvSpPr>
          <p:cNvPr id="9" name="TextBox 8">
            <a:extLst>
              <a:ext uri="{FF2B5EF4-FFF2-40B4-BE49-F238E27FC236}">
                <a16:creationId xmlns:a16="http://schemas.microsoft.com/office/drawing/2014/main" id="{F910A423-8B73-63CF-412E-EDE0BC8462AF}"/>
              </a:ext>
            </a:extLst>
          </p:cNvPr>
          <p:cNvSpPr>
            <a:spLocks noGrp="1"/>
          </p:cNvSpPr>
          <p:nvPr/>
        </p:nvSpPr>
        <p:spPr>
          <a:xfrm>
            <a:off x="4318000" y="2794000"/>
            <a:ext cx="3111500" cy="738664"/>
          </a:xfrm>
          <a:prstGeom prst="rect">
            <a:avLst/>
          </a:prstGeom>
          <a:noFill/>
        </p:spPr>
        <p:txBody>
          <a:bodyPr vert="horz" lIns="0" tIns="0" rIns="0" bIns="0" anchor="t">
            <a:spAutoFit/>
          </a:bodyPr>
          <a:lstStyle/>
          <a:p>
            <a:r>
              <a:rPr sz="2400" b="1">
                <a:solidFill>
                  <a:srgbClr val="000000"/>
                </a:solidFill>
                <a:latin typeface="Arial"/>
                <a:ea typeface="Arial"/>
                <a:cs typeface="Arial"/>
              </a:rPr>
              <a:t>Measure effective rent</a:t>
            </a:r>
          </a:p>
        </p:txBody>
      </p:sp>
      <p:sp>
        <p:nvSpPr>
          <p:cNvPr id="10" name="TextBox 9">
            <a:extLst>
              <a:ext uri="{FF2B5EF4-FFF2-40B4-BE49-F238E27FC236}">
                <a16:creationId xmlns:a16="http://schemas.microsoft.com/office/drawing/2014/main" id="{AF4CEF64-FE56-1793-6F9A-1A6D48B04F11}"/>
              </a:ext>
            </a:extLst>
          </p:cNvPr>
          <p:cNvSpPr>
            <a:spLocks noGrp="1"/>
          </p:cNvSpPr>
          <p:nvPr/>
        </p:nvSpPr>
        <p:spPr>
          <a:xfrm>
            <a:off x="4318000" y="3810000"/>
            <a:ext cx="3111500" cy="830997"/>
          </a:xfrm>
          <a:prstGeom prst="rect">
            <a:avLst/>
          </a:prstGeom>
          <a:noFill/>
        </p:spPr>
        <p:txBody>
          <a:bodyPr vert="horz" lIns="0" tIns="0" rIns="0" bIns="0" anchor="t">
            <a:spAutoFit/>
          </a:bodyPr>
          <a:lstStyle/>
          <a:p>
            <a:r>
              <a:rPr>
                <a:solidFill>
                  <a:srgbClr val="4C525B"/>
                </a:solidFill>
                <a:latin typeface="Arial"/>
                <a:ea typeface="Arial"/>
                <a:cs typeface="Arial"/>
              </a:rPr>
              <a:t>Include concessions.
Annualize the change between leases.</a:t>
            </a:r>
          </a:p>
        </p:txBody>
      </p:sp>
      <p:sp>
        <p:nvSpPr>
          <p:cNvPr id="11" name="TextBox 10">
            <a:extLst>
              <a:ext uri="{FF2B5EF4-FFF2-40B4-BE49-F238E27FC236}">
                <a16:creationId xmlns:a16="http://schemas.microsoft.com/office/drawing/2014/main" id="{D889DCDF-DBE5-533E-551E-FDA9A91FC0DB}"/>
              </a:ext>
            </a:extLst>
          </p:cNvPr>
          <p:cNvSpPr>
            <a:spLocks noGrp="1"/>
          </p:cNvSpPr>
          <p:nvPr/>
        </p:nvSpPr>
        <p:spPr>
          <a:xfrm>
            <a:off x="8128000" y="1587500"/>
            <a:ext cx="1143000" cy="584775"/>
          </a:xfrm>
          <a:prstGeom prst="rect">
            <a:avLst/>
          </a:prstGeom>
          <a:noFill/>
        </p:spPr>
        <p:txBody>
          <a:bodyPr vert="horz" lIns="0" tIns="0" rIns="0" bIns="0" anchor="t">
            <a:spAutoFit/>
          </a:bodyPr>
          <a:lstStyle/>
          <a:p>
            <a:r>
              <a:rPr sz="3800" b="1">
                <a:solidFill>
                  <a:srgbClr val="3D8DFF"/>
                </a:solidFill>
                <a:latin typeface="Arial"/>
                <a:ea typeface="Arial"/>
                <a:cs typeface="Arial"/>
              </a:rPr>
              <a:t>03</a:t>
            </a:r>
          </a:p>
        </p:txBody>
      </p:sp>
      <p:sp>
        <p:nvSpPr>
          <p:cNvPr id="12" name="Straight Connector 11">
            <a:extLst>
              <a:ext uri="{FF2B5EF4-FFF2-40B4-BE49-F238E27FC236}">
                <a16:creationId xmlns:a16="http://schemas.microsoft.com/office/drawing/2014/main" id="{FC91C18A-D130-424B-A385-22EF0F5A930B}"/>
              </a:ext>
            </a:extLst>
          </p:cNvPr>
          <p:cNvSpPr>
            <a:spLocks noGrp="1"/>
          </p:cNvSpPr>
          <p:nvPr/>
        </p:nvSpPr>
        <p:spPr>
          <a:xfrm>
            <a:off x="8128000" y="2476500"/>
            <a:ext cx="2984500" cy="0"/>
          </a:xfrm>
          <a:prstGeom prst="line">
            <a:avLst/>
          </a:prstGeom>
          <a:ln w="12700">
            <a:solidFill>
              <a:srgbClr val="B8BCC4"/>
            </a:solidFill>
          </a:ln>
        </p:spPr>
        <p:style>
          <a:lnRef idx="2">
            <a:schemeClr val="accent1"/>
          </a:lnRef>
          <a:fillRef idx="0">
            <a:schemeClr val="accent1"/>
          </a:fillRef>
          <a:effectRef idx="1">
            <a:schemeClr val="accent1"/>
          </a:effectRef>
          <a:fontRef idx="minor">
            <a:schemeClr val="tx1"/>
          </a:fontRef>
        </p:style>
        <p:txBody>
          <a:bodyPr/>
          <a:lstStyle/>
          <a:p>
            <a:endParaRPr lang="fr-CA"/>
          </a:p>
        </p:txBody>
      </p:sp>
      <p:sp>
        <p:nvSpPr>
          <p:cNvPr id="13" name="TextBox 12">
            <a:extLst>
              <a:ext uri="{FF2B5EF4-FFF2-40B4-BE49-F238E27FC236}">
                <a16:creationId xmlns:a16="http://schemas.microsoft.com/office/drawing/2014/main" id="{CE352699-BDA8-DB1A-0EEB-7C83B9C74598}"/>
              </a:ext>
            </a:extLst>
          </p:cNvPr>
          <p:cNvSpPr>
            <a:spLocks noGrp="1"/>
          </p:cNvSpPr>
          <p:nvPr/>
        </p:nvSpPr>
        <p:spPr>
          <a:xfrm>
            <a:off x="8128000" y="2794000"/>
            <a:ext cx="3111500" cy="369332"/>
          </a:xfrm>
          <a:prstGeom prst="rect">
            <a:avLst/>
          </a:prstGeom>
          <a:noFill/>
        </p:spPr>
        <p:txBody>
          <a:bodyPr vert="horz" lIns="0" tIns="0" rIns="0" bIns="0" anchor="t">
            <a:spAutoFit/>
          </a:bodyPr>
          <a:lstStyle/>
          <a:p>
            <a:r>
              <a:rPr sz="2400" b="1">
                <a:solidFill>
                  <a:srgbClr val="000000"/>
                </a:solidFill>
                <a:latin typeface="Arial"/>
                <a:ea typeface="Arial"/>
                <a:cs typeface="Arial"/>
              </a:rPr>
              <a:t>Backtest before 2026</a:t>
            </a:r>
          </a:p>
        </p:txBody>
      </p:sp>
      <p:sp>
        <p:nvSpPr>
          <p:cNvPr id="14" name="TextBox 13">
            <a:extLst>
              <a:ext uri="{FF2B5EF4-FFF2-40B4-BE49-F238E27FC236}">
                <a16:creationId xmlns:a16="http://schemas.microsoft.com/office/drawing/2014/main" id="{3CF2049A-C91D-1C79-F6C0-DCB539B1E442}"/>
              </a:ext>
            </a:extLst>
          </p:cNvPr>
          <p:cNvSpPr>
            <a:spLocks noGrp="1"/>
          </p:cNvSpPr>
          <p:nvPr/>
        </p:nvSpPr>
        <p:spPr>
          <a:xfrm>
            <a:off x="8128000" y="3810000"/>
            <a:ext cx="3111500" cy="830997"/>
          </a:xfrm>
          <a:prstGeom prst="rect">
            <a:avLst/>
          </a:prstGeom>
          <a:noFill/>
        </p:spPr>
        <p:txBody>
          <a:bodyPr vert="horz" lIns="0" tIns="0" rIns="0" bIns="0" anchor="t">
            <a:spAutoFit/>
          </a:bodyPr>
          <a:lstStyle/>
          <a:p>
            <a:r>
              <a:rPr>
                <a:solidFill>
                  <a:srgbClr val="4C525B"/>
                </a:solidFill>
                <a:latin typeface="Arial"/>
                <a:ea typeface="Arial"/>
                <a:cs typeface="Arial"/>
              </a:rPr>
              <a:t>Predict 2023-2025 using only earlier years.
Then estimate 2026.</a:t>
            </a:r>
          </a:p>
        </p:txBody>
      </p:sp>
      <p:sp>
        <p:nvSpPr>
          <p:cNvPr id="15" name="TextBox 14">
            <a:extLst>
              <a:ext uri="{FF2B5EF4-FFF2-40B4-BE49-F238E27FC236}">
                <a16:creationId xmlns:a16="http://schemas.microsoft.com/office/drawing/2014/main" id="{8B99D62D-C74C-E549-B46D-B0AFF69E3171}"/>
              </a:ext>
            </a:extLst>
          </p:cNvPr>
          <p:cNvSpPr>
            <a:spLocks noGrp="1"/>
          </p:cNvSpPr>
          <p:nvPr/>
        </p:nvSpPr>
        <p:spPr>
          <a:xfrm>
            <a:off x="508000" y="5740400"/>
            <a:ext cx="9652000" cy="307777"/>
          </a:xfrm>
          <a:prstGeom prst="rect">
            <a:avLst/>
          </a:prstGeom>
          <a:noFill/>
        </p:spPr>
        <p:txBody>
          <a:bodyPr vert="horz" lIns="0" tIns="0" rIns="0" bIns="0" anchor="t">
            <a:spAutoFit/>
          </a:bodyPr>
          <a:lstStyle/>
          <a:p>
            <a:r>
              <a:rPr sz="2000" b="1">
                <a:solidFill>
                  <a:srgbClr val="000000"/>
                </a:solidFill>
                <a:latin typeface="Arial"/>
                <a:ea typeface="Arial"/>
                <a:cs typeface="Arial"/>
              </a:rPr>
              <a:t>The same rule is used for the backtest and the 2026 forecast.</a:t>
            </a:r>
          </a:p>
        </p:txBody>
      </p:sp>
      <p:sp>
        <p:nvSpPr>
          <p:cNvPr id="16" name="TextBox 15">
            <a:extLst>
              <a:ext uri="{FF2B5EF4-FFF2-40B4-BE49-F238E27FC236}">
                <a16:creationId xmlns:a16="http://schemas.microsoft.com/office/drawing/2014/main" id="{46E897DB-9BC2-1E76-AD2B-434526D62F03}"/>
              </a:ext>
            </a:extLst>
          </p:cNvPr>
          <p:cNvSpPr>
            <a:spLocks noGrp="1"/>
          </p:cNvSpPr>
          <p:nvPr/>
        </p:nvSpPr>
        <p:spPr>
          <a:xfrm>
            <a:off x="11493500" y="6502400"/>
            <a:ext cx="254000" cy="138499"/>
          </a:xfrm>
          <a:prstGeom prst="rect">
            <a:avLst/>
          </a:prstGeom>
          <a:noFill/>
        </p:spPr>
        <p:txBody>
          <a:bodyPr vert="horz" lIns="0" tIns="0" rIns="0" bIns="0" anchor="t">
            <a:spAutoFit/>
          </a:bodyPr>
          <a:lstStyle/>
          <a:p>
            <a:pPr algn="r">
              <a:buNone/>
            </a:pPr>
            <a:r>
              <a:rPr sz="900">
                <a:solidFill>
                  <a:srgbClr val="4C525B"/>
                </a:solidFill>
                <a:latin typeface="Arial"/>
                <a:ea typeface="Arial"/>
                <a:cs typeface="Arial"/>
              </a:rPr>
              <a:t>3</a:t>
            </a:r>
          </a:p>
        </p:txBody>
      </p:sp>
    </p:spTree>
    <p:extLst>
      <p:ext uri="{BB962C8B-B14F-4D97-AF65-F5344CB8AC3E}">
        <p14:creationId xmlns:p14="http://schemas.microsoft.com/office/powerpoint/2010/main" val="29590676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79E521D-D6B2-EC52-9FD9-52F7680F533A}"/>
              </a:ext>
            </a:extLst>
          </p:cNvPr>
          <p:cNvSpPr>
            <a:spLocks noGrp="1"/>
          </p:cNvSpPr>
          <p:nvPr/>
        </p:nvSpPr>
        <p:spPr>
          <a:xfrm>
            <a:off x="381000" y="330200"/>
            <a:ext cx="11303000" cy="553998"/>
          </a:xfrm>
          <a:prstGeom prst="rect">
            <a:avLst/>
          </a:prstGeom>
          <a:noFill/>
        </p:spPr>
        <p:txBody>
          <a:bodyPr vert="horz" lIns="0" tIns="0" rIns="0" bIns="0" anchor="t">
            <a:spAutoFit/>
          </a:bodyPr>
          <a:lstStyle/>
          <a:p>
            <a:r>
              <a:rPr sz="3600" b="1">
                <a:solidFill>
                  <a:srgbClr val="000000"/>
                </a:solidFill>
                <a:latin typeface="Arial"/>
                <a:ea typeface="Arial"/>
                <a:cs typeface="Arial"/>
              </a:rPr>
              <a:t>Effective-rent growth rebounded to 3.58% in 2025</a:t>
            </a:r>
          </a:p>
        </p:txBody>
      </p:sp>
      <p:sp>
        <p:nvSpPr>
          <p:cNvPr id="5" name="Rectangle 4">
            <a:extLst>
              <a:ext uri="{FF2B5EF4-FFF2-40B4-BE49-F238E27FC236}">
                <a16:creationId xmlns:a16="http://schemas.microsoft.com/office/drawing/2014/main" id="{ADB75701-1722-2036-12C8-752E5C82A6FB}"/>
              </a:ext>
            </a:extLst>
          </p:cNvPr>
          <p:cNvSpPr>
            <a:spLocks noGrp="1"/>
          </p:cNvSpPr>
          <p:nvPr/>
        </p:nvSpPr>
        <p:spPr>
          <a:xfrm>
            <a:off x="8382000" y="1587500"/>
            <a:ext cx="3175000" cy="1460500"/>
          </a:xfrm>
          <a:prstGeom prst="rect">
            <a:avLst/>
          </a:prstGeom>
          <a:solidFill>
            <a:srgbClr val="EDEDED"/>
          </a:solidFill>
          <a:ln w="1905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7401F925-79AA-A638-CD40-01C14156D7DC}"/>
              </a:ext>
            </a:extLst>
          </p:cNvPr>
          <p:cNvSpPr>
            <a:spLocks noGrp="1"/>
          </p:cNvSpPr>
          <p:nvPr/>
        </p:nvSpPr>
        <p:spPr>
          <a:xfrm>
            <a:off x="8636000" y="1816100"/>
            <a:ext cx="2540000" cy="523220"/>
          </a:xfrm>
          <a:prstGeom prst="rect">
            <a:avLst/>
          </a:prstGeom>
          <a:noFill/>
        </p:spPr>
        <p:txBody>
          <a:bodyPr vert="horz" lIns="0" tIns="0" rIns="0" bIns="0" anchor="t">
            <a:spAutoFit/>
          </a:bodyPr>
          <a:lstStyle/>
          <a:p>
            <a:r>
              <a:rPr sz="3400" b="1">
                <a:solidFill>
                  <a:srgbClr val="000000"/>
                </a:solidFill>
                <a:latin typeface="Arial"/>
                <a:ea typeface="Arial"/>
                <a:cs typeface="Arial"/>
              </a:rPr>
              <a:t>3.58%</a:t>
            </a:r>
          </a:p>
        </p:txBody>
      </p:sp>
      <p:sp>
        <p:nvSpPr>
          <p:cNvPr id="7" name="TextBox 6">
            <a:extLst>
              <a:ext uri="{FF2B5EF4-FFF2-40B4-BE49-F238E27FC236}">
                <a16:creationId xmlns:a16="http://schemas.microsoft.com/office/drawing/2014/main" id="{5923B0DF-67DD-BDB8-A39D-AB5F8DFAAC06}"/>
              </a:ext>
            </a:extLst>
          </p:cNvPr>
          <p:cNvSpPr>
            <a:spLocks noGrp="1"/>
          </p:cNvSpPr>
          <p:nvPr/>
        </p:nvSpPr>
        <p:spPr>
          <a:xfrm>
            <a:off x="8636000" y="2425700"/>
            <a:ext cx="2603500" cy="523220"/>
          </a:xfrm>
          <a:prstGeom prst="rect">
            <a:avLst/>
          </a:prstGeom>
          <a:noFill/>
        </p:spPr>
        <p:txBody>
          <a:bodyPr vert="horz" lIns="0" tIns="0" rIns="0" bIns="0" anchor="t">
            <a:spAutoFit/>
          </a:bodyPr>
          <a:lstStyle/>
          <a:p>
            <a:r>
              <a:rPr sz="1700">
                <a:solidFill>
                  <a:srgbClr val="4C525B"/>
                </a:solidFill>
                <a:latin typeface="Arial"/>
                <a:ea typeface="Arial"/>
                <a:cs typeface="Arial"/>
              </a:rPr>
              <a:t>2025 effective-rent growth</a:t>
            </a:r>
          </a:p>
        </p:txBody>
      </p:sp>
      <p:sp>
        <p:nvSpPr>
          <p:cNvPr id="8" name="Rectangle 7">
            <a:extLst>
              <a:ext uri="{FF2B5EF4-FFF2-40B4-BE49-F238E27FC236}">
                <a16:creationId xmlns:a16="http://schemas.microsoft.com/office/drawing/2014/main" id="{ECBE9265-FB12-04CB-B2D6-A1208BC4A9CE}"/>
              </a:ext>
            </a:extLst>
          </p:cNvPr>
          <p:cNvSpPr>
            <a:spLocks noGrp="1"/>
          </p:cNvSpPr>
          <p:nvPr/>
        </p:nvSpPr>
        <p:spPr>
          <a:xfrm>
            <a:off x="8382000" y="3302000"/>
            <a:ext cx="3175000" cy="1460500"/>
          </a:xfrm>
          <a:prstGeom prst="rect">
            <a:avLst/>
          </a:prstGeom>
          <a:solidFill>
            <a:srgbClr val="D0EDFA"/>
          </a:solidFill>
          <a:ln w="1905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B3AAD59-7BD3-0E11-EC10-B370EF956AC4}"/>
              </a:ext>
            </a:extLst>
          </p:cNvPr>
          <p:cNvSpPr>
            <a:spLocks noGrp="1"/>
          </p:cNvSpPr>
          <p:nvPr/>
        </p:nvSpPr>
        <p:spPr>
          <a:xfrm>
            <a:off x="8636000" y="3530600"/>
            <a:ext cx="2540000" cy="523220"/>
          </a:xfrm>
          <a:prstGeom prst="rect">
            <a:avLst/>
          </a:prstGeom>
          <a:noFill/>
        </p:spPr>
        <p:txBody>
          <a:bodyPr vert="horz" lIns="0" tIns="0" rIns="0" bIns="0" anchor="t">
            <a:spAutoFit/>
          </a:bodyPr>
          <a:lstStyle/>
          <a:p>
            <a:r>
              <a:rPr sz="3400" b="1">
                <a:solidFill>
                  <a:srgbClr val="000000"/>
                </a:solidFill>
                <a:latin typeface="Arial"/>
                <a:ea typeface="Arial"/>
                <a:cs typeface="Arial"/>
              </a:rPr>
              <a:t>1.77%</a:t>
            </a:r>
          </a:p>
        </p:txBody>
      </p:sp>
      <p:sp>
        <p:nvSpPr>
          <p:cNvPr id="10" name="TextBox 9">
            <a:extLst>
              <a:ext uri="{FF2B5EF4-FFF2-40B4-BE49-F238E27FC236}">
                <a16:creationId xmlns:a16="http://schemas.microsoft.com/office/drawing/2014/main" id="{F5B345C9-7EE9-3D7D-1779-2599DA642630}"/>
              </a:ext>
            </a:extLst>
          </p:cNvPr>
          <p:cNvSpPr>
            <a:spLocks noGrp="1"/>
          </p:cNvSpPr>
          <p:nvPr/>
        </p:nvSpPr>
        <p:spPr>
          <a:xfrm>
            <a:off x="8636000" y="4140200"/>
            <a:ext cx="2603500" cy="523220"/>
          </a:xfrm>
          <a:prstGeom prst="rect">
            <a:avLst/>
          </a:prstGeom>
          <a:noFill/>
        </p:spPr>
        <p:txBody>
          <a:bodyPr vert="horz" lIns="0" tIns="0" rIns="0" bIns="0" anchor="t">
            <a:spAutoFit/>
          </a:bodyPr>
          <a:lstStyle/>
          <a:p>
            <a:r>
              <a:rPr sz="1700">
                <a:solidFill>
                  <a:srgbClr val="4C525B"/>
                </a:solidFill>
                <a:latin typeface="Arial"/>
                <a:ea typeface="Arial"/>
                <a:cs typeface="Arial"/>
              </a:rPr>
              <a:t>2024 low before the rebound</a:t>
            </a:r>
          </a:p>
        </p:txBody>
      </p:sp>
      <p:sp>
        <p:nvSpPr>
          <p:cNvPr id="11" name="TextBox 10">
            <a:extLst>
              <a:ext uri="{FF2B5EF4-FFF2-40B4-BE49-F238E27FC236}">
                <a16:creationId xmlns:a16="http://schemas.microsoft.com/office/drawing/2014/main" id="{596ADD79-D588-8361-864B-092C77B37BB8}"/>
              </a:ext>
            </a:extLst>
          </p:cNvPr>
          <p:cNvSpPr>
            <a:spLocks noGrp="1"/>
          </p:cNvSpPr>
          <p:nvPr/>
        </p:nvSpPr>
        <p:spPr>
          <a:xfrm>
            <a:off x="381000" y="5651500"/>
            <a:ext cx="9906000" cy="338554"/>
          </a:xfrm>
          <a:prstGeom prst="rect">
            <a:avLst/>
          </a:prstGeom>
          <a:noFill/>
        </p:spPr>
        <p:txBody>
          <a:bodyPr vert="horz" lIns="0" tIns="0" rIns="0" bIns="0" anchor="t">
            <a:spAutoFit/>
          </a:bodyPr>
          <a:lstStyle/>
          <a:p>
            <a:r>
              <a:rPr sz="2200" b="1">
                <a:solidFill>
                  <a:srgbClr val="000000"/>
                </a:solidFill>
                <a:latin typeface="Arial"/>
                <a:ea typeface="Arial"/>
                <a:cs typeface="Arial"/>
              </a:rPr>
              <a:t>The rebound is real, but remains below the 4.59% reached in 2022.</a:t>
            </a:r>
          </a:p>
        </p:txBody>
      </p:sp>
      <p:sp>
        <p:nvSpPr>
          <p:cNvPr id="12" name="TextBox 11">
            <a:extLst>
              <a:ext uri="{FF2B5EF4-FFF2-40B4-BE49-F238E27FC236}">
                <a16:creationId xmlns:a16="http://schemas.microsoft.com/office/drawing/2014/main" id="{7203CCB5-D260-7457-9ACC-84CAFAAA726E}"/>
              </a:ext>
            </a:extLst>
          </p:cNvPr>
          <p:cNvSpPr>
            <a:spLocks noGrp="1"/>
          </p:cNvSpPr>
          <p:nvPr/>
        </p:nvSpPr>
        <p:spPr>
          <a:xfrm>
            <a:off x="11493500" y="6502400"/>
            <a:ext cx="254000" cy="138499"/>
          </a:xfrm>
          <a:prstGeom prst="rect">
            <a:avLst/>
          </a:prstGeom>
          <a:noFill/>
        </p:spPr>
        <p:txBody>
          <a:bodyPr vert="horz" lIns="0" tIns="0" rIns="0" bIns="0" anchor="t">
            <a:spAutoFit/>
          </a:bodyPr>
          <a:lstStyle/>
          <a:p>
            <a:pPr algn="r">
              <a:buNone/>
            </a:pPr>
            <a:r>
              <a:rPr sz="900">
                <a:solidFill>
                  <a:srgbClr val="4C525B"/>
                </a:solidFill>
                <a:latin typeface="Arial"/>
                <a:ea typeface="Arial"/>
                <a:cs typeface="Arial"/>
              </a:rPr>
              <a:t>4</a:t>
            </a:r>
          </a:p>
        </p:txBody>
      </p:sp>
      <p:graphicFrame>
        <p:nvGraphicFramePr>
          <p:cNvPr id="23" name="Historical effective-rent growth"/>
          <p:cNvGraphicFramePr/>
          <p:nvPr/>
        </p:nvGraphicFramePr>
        <p:xfrm>
          <a:off x="523875" y="1428750"/>
          <a:ext cx="7334250" cy="371475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9647883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DE0B6E5-AD54-E278-649E-B1D67E7FB81A}"/>
              </a:ext>
            </a:extLst>
          </p:cNvPr>
          <p:cNvSpPr>
            <a:spLocks noGrp="1"/>
          </p:cNvSpPr>
          <p:nvPr/>
        </p:nvSpPr>
        <p:spPr>
          <a:xfrm>
            <a:off x="381000" y="330200"/>
            <a:ext cx="11303000" cy="553998"/>
          </a:xfrm>
          <a:prstGeom prst="rect">
            <a:avLst/>
          </a:prstGeom>
          <a:noFill/>
        </p:spPr>
        <p:txBody>
          <a:bodyPr vert="horz" lIns="0" tIns="0" rIns="0" bIns="0" anchor="t">
            <a:spAutoFit/>
          </a:bodyPr>
          <a:lstStyle/>
          <a:p>
            <a:r>
              <a:rPr sz="3600" b="1">
                <a:solidFill>
                  <a:srgbClr val="000000"/>
                </a:solidFill>
                <a:latin typeface="Arial"/>
                <a:ea typeface="Arial"/>
                <a:cs typeface="Arial"/>
              </a:rPr>
              <a:t>Concessions and turnover explain recent growth</a:t>
            </a:r>
          </a:p>
        </p:txBody>
      </p:sp>
      <p:sp>
        <p:nvSpPr>
          <p:cNvPr id="3" name="TextBox 2">
            <a:extLst>
              <a:ext uri="{FF2B5EF4-FFF2-40B4-BE49-F238E27FC236}">
                <a16:creationId xmlns:a16="http://schemas.microsoft.com/office/drawing/2014/main" id="{81B7C00F-D94D-127C-49CA-74DBC1CC8874}"/>
              </a:ext>
            </a:extLst>
          </p:cNvPr>
          <p:cNvSpPr>
            <a:spLocks noGrp="1"/>
          </p:cNvSpPr>
          <p:nvPr/>
        </p:nvSpPr>
        <p:spPr>
          <a:xfrm>
            <a:off x="381000" y="1143000"/>
            <a:ext cx="10033000" cy="323165"/>
          </a:xfrm>
          <a:prstGeom prst="rect">
            <a:avLst/>
          </a:prstGeom>
          <a:noFill/>
        </p:spPr>
        <p:txBody>
          <a:bodyPr vert="horz" lIns="0" tIns="0" rIns="0" bIns="0" anchor="t">
            <a:spAutoFit/>
          </a:bodyPr>
          <a:lstStyle/>
          <a:p>
            <a:r>
              <a:rPr sz="2100">
                <a:solidFill>
                  <a:srgbClr val="4C525B"/>
                </a:solidFill>
                <a:latin typeface="Arial"/>
                <a:ea typeface="Arial"/>
                <a:cs typeface="Arial"/>
              </a:rPr>
              <a:t>Discounts widened, and turnover led the 2025 rebound.</a:t>
            </a:r>
          </a:p>
        </p:txBody>
      </p:sp>
      <p:sp>
        <p:nvSpPr>
          <p:cNvPr id="4" name="Rectangle 3">
            <a:extLst>
              <a:ext uri="{FF2B5EF4-FFF2-40B4-BE49-F238E27FC236}">
                <a16:creationId xmlns:a16="http://schemas.microsoft.com/office/drawing/2014/main" id="{9AC1681A-5622-97BE-F765-05EE0E8F20C0}"/>
              </a:ext>
            </a:extLst>
          </p:cNvPr>
          <p:cNvSpPr>
            <a:spLocks noGrp="1"/>
          </p:cNvSpPr>
          <p:nvPr/>
        </p:nvSpPr>
        <p:spPr>
          <a:xfrm>
            <a:off x="508000" y="2095500"/>
            <a:ext cx="3302000" cy="2921000"/>
          </a:xfrm>
          <a:prstGeom prst="rect">
            <a:avLst/>
          </a:prstGeom>
          <a:solidFill>
            <a:srgbClr val="EDEDED"/>
          </a:solidFill>
          <a:ln w="1905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79F13DB-2F76-6500-17CB-6123ADF763D7}"/>
              </a:ext>
            </a:extLst>
          </p:cNvPr>
          <p:cNvSpPr>
            <a:spLocks noGrp="1"/>
          </p:cNvSpPr>
          <p:nvPr/>
        </p:nvSpPr>
        <p:spPr>
          <a:xfrm>
            <a:off x="787400" y="2603500"/>
            <a:ext cx="2730500" cy="584775"/>
          </a:xfrm>
          <a:prstGeom prst="rect">
            <a:avLst/>
          </a:prstGeom>
          <a:noFill/>
        </p:spPr>
        <p:txBody>
          <a:bodyPr vert="horz" lIns="0" tIns="0" rIns="0" bIns="0" anchor="t">
            <a:spAutoFit/>
          </a:bodyPr>
          <a:lstStyle/>
          <a:p>
            <a:r>
              <a:rPr sz="3800" b="1">
                <a:solidFill>
                  <a:srgbClr val="000000"/>
                </a:solidFill>
                <a:latin typeface="Arial"/>
                <a:ea typeface="Arial"/>
                <a:cs typeface="Arial"/>
              </a:rPr>
              <a:t>85.39%</a:t>
            </a:r>
          </a:p>
        </p:txBody>
      </p:sp>
      <p:sp>
        <p:nvSpPr>
          <p:cNvPr id="6" name="TextBox 5">
            <a:extLst>
              <a:ext uri="{FF2B5EF4-FFF2-40B4-BE49-F238E27FC236}">
                <a16:creationId xmlns:a16="http://schemas.microsoft.com/office/drawing/2014/main" id="{A01AD95F-5490-ABD8-AEAA-9FA2FBC87A36}"/>
              </a:ext>
            </a:extLst>
          </p:cNvPr>
          <p:cNvSpPr>
            <a:spLocks noGrp="1"/>
          </p:cNvSpPr>
          <p:nvPr/>
        </p:nvSpPr>
        <p:spPr>
          <a:xfrm>
            <a:off x="787400" y="3683000"/>
            <a:ext cx="2730500" cy="584775"/>
          </a:xfrm>
          <a:prstGeom prst="rect">
            <a:avLst/>
          </a:prstGeom>
          <a:noFill/>
        </p:spPr>
        <p:txBody>
          <a:bodyPr vert="horz" lIns="0" tIns="0" rIns="0" bIns="0" anchor="t">
            <a:spAutoFit/>
          </a:bodyPr>
          <a:lstStyle/>
          <a:p>
            <a:r>
              <a:rPr sz="1900">
                <a:solidFill>
                  <a:srgbClr val="4C525B"/>
                </a:solidFill>
                <a:latin typeface="Arial"/>
                <a:ea typeface="Arial"/>
                <a:cs typeface="Arial"/>
              </a:rPr>
              <a:t>2025 leases with
a concession</a:t>
            </a:r>
          </a:p>
        </p:txBody>
      </p:sp>
      <p:sp>
        <p:nvSpPr>
          <p:cNvPr id="7" name="Rectangle 6">
            <a:extLst>
              <a:ext uri="{FF2B5EF4-FFF2-40B4-BE49-F238E27FC236}">
                <a16:creationId xmlns:a16="http://schemas.microsoft.com/office/drawing/2014/main" id="{CB0B4743-A1C0-24BC-519E-E984CFF16933}"/>
              </a:ext>
            </a:extLst>
          </p:cNvPr>
          <p:cNvSpPr>
            <a:spLocks noGrp="1"/>
          </p:cNvSpPr>
          <p:nvPr/>
        </p:nvSpPr>
        <p:spPr>
          <a:xfrm>
            <a:off x="4381500" y="2095500"/>
            <a:ext cx="3302000" cy="2921000"/>
          </a:xfrm>
          <a:prstGeom prst="rect">
            <a:avLst/>
          </a:prstGeom>
          <a:solidFill>
            <a:srgbClr val="EDEDED"/>
          </a:solidFill>
          <a:ln w="1905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95FF9312-F4A9-8110-D0E2-277B3345A211}"/>
              </a:ext>
            </a:extLst>
          </p:cNvPr>
          <p:cNvSpPr>
            <a:spLocks noGrp="1"/>
          </p:cNvSpPr>
          <p:nvPr/>
        </p:nvSpPr>
        <p:spPr>
          <a:xfrm>
            <a:off x="4660900" y="2603500"/>
            <a:ext cx="2730500" cy="584775"/>
          </a:xfrm>
          <a:prstGeom prst="rect">
            <a:avLst/>
          </a:prstGeom>
          <a:noFill/>
        </p:spPr>
        <p:txBody>
          <a:bodyPr vert="horz" lIns="0" tIns="0" rIns="0" bIns="0" anchor="t">
            <a:spAutoFit/>
          </a:bodyPr>
          <a:lstStyle/>
          <a:p>
            <a:r>
              <a:rPr sz="3800" b="1">
                <a:solidFill>
                  <a:srgbClr val="000000"/>
                </a:solidFill>
                <a:latin typeface="Arial"/>
                <a:ea typeface="Arial"/>
                <a:cs typeface="Arial"/>
              </a:rPr>
              <a:t>$219.92</a:t>
            </a:r>
          </a:p>
        </p:txBody>
      </p:sp>
      <p:sp>
        <p:nvSpPr>
          <p:cNvPr id="9" name="TextBox 8">
            <a:extLst>
              <a:ext uri="{FF2B5EF4-FFF2-40B4-BE49-F238E27FC236}">
                <a16:creationId xmlns:a16="http://schemas.microsoft.com/office/drawing/2014/main" id="{5E7370DB-A2B8-5791-C424-76A2B87A98C4}"/>
              </a:ext>
            </a:extLst>
          </p:cNvPr>
          <p:cNvSpPr>
            <a:spLocks noGrp="1"/>
          </p:cNvSpPr>
          <p:nvPr/>
        </p:nvSpPr>
        <p:spPr>
          <a:xfrm>
            <a:off x="4660900" y="3683000"/>
            <a:ext cx="2730500" cy="584775"/>
          </a:xfrm>
          <a:prstGeom prst="rect">
            <a:avLst/>
          </a:prstGeom>
          <a:noFill/>
        </p:spPr>
        <p:txBody>
          <a:bodyPr vert="horz" lIns="0" tIns="0" rIns="0" bIns="0" anchor="t">
            <a:spAutoFit/>
          </a:bodyPr>
          <a:lstStyle/>
          <a:p>
            <a:r>
              <a:rPr sz="1900">
                <a:solidFill>
                  <a:srgbClr val="4C525B"/>
                </a:solidFill>
                <a:latin typeface="Arial"/>
                <a:ea typeface="Arial"/>
                <a:cs typeface="Arial"/>
              </a:rPr>
              <a:t>Median monthly
discount in 2025</a:t>
            </a:r>
          </a:p>
        </p:txBody>
      </p:sp>
      <p:sp>
        <p:nvSpPr>
          <p:cNvPr id="10" name="Rectangle 9">
            <a:extLst>
              <a:ext uri="{FF2B5EF4-FFF2-40B4-BE49-F238E27FC236}">
                <a16:creationId xmlns:a16="http://schemas.microsoft.com/office/drawing/2014/main" id="{723A8272-CAC2-457E-FAB9-4541C98D8F4D}"/>
              </a:ext>
            </a:extLst>
          </p:cNvPr>
          <p:cNvSpPr>
            <a:spLocks noGrp="1"/>
          </p:cNvSpPr>
          <p:nvPr/>
        </p:nvSpPr>
        <p:spPr>
          <a:xfrm>
            <a:off x="8255000" y="2095500"/>
            <a:ext cx="3302000" cy="2921000"/>
          </a:xfrm>
          <a:prstGeom prst="rect">
            <a:avLst/>
          </a:prstGeom>
          <a:solidFill>
            <a:srgbClr val="EDEDED"/>
          </a:solidFill>
          <a:ln w="1905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3F29F4A3-D976-F3AB-67EA-B13DBDE0E601}"/>
              </a:ext>
            </a:extLst>
          </p:cNvPr>
          <p:cNvSpPr>
            <a:spLocks noGrp="1"/>
          </p:cNvSpPr>
          <p:nvPr/>
        </p:nvSpPr>
        <p:spPr>
          <a:xfrm>
            <a:off x="8534400" y="2603500"/>
            <a:ext cx="2730500" cy="584775"/>
          </a:xfrm>
          <a:prstGeom prst="rect">
            <a:avLst/>
          </a:prstGeom>
          <a:noFill/>
        </p:spPr>
        <p:txBody>
          <a:bodyPr vert="horz" lIns="0" tIns="0" rIns="0" bIns="0" anchor="t">
            <a:spAutoFit/>
          </a:bodyPr>
          <a:lstStyle/>
          <a:p>
            <a:r>
              <a:rPr sz="3800" b="1">
                <a:solidFill>
                  <a:srgbClr val="000000"/>
                </a:solidFill>
                <a:latin typeface="Arial"/>
                <a:ea typeface="Arial"/>
                <a:cs typeface="Arial"/>
              </a:rPr>
              <a:t>5.74%</a:t>
            </a:r>
          </a:p>
        </p:txBody>
      </p:sp>
      <p:sp>
        <p:nvSpPr>
          <p:cNvPr id="12" name="TextBox 11">
            <a:extLst>
              <a:ext uri="{FF2B5EF4-FFF2-40B4-BE49-F238E27FC236}">
                <a16:creationId xmlns:a16="http://schemas.microsoft.com/office/drawing/2014/main" id="{A7B81D12-0019-9658-2F1D-099E5302721E}"/>
              </a:ext>
            </a:extLst>
          </p:cNvPr>
          <p:cNvSpPr>
            <a:spLocks noGrp="1"/>
          </p:cNvSpPr>
          <p:nvPr/>
        </p:nvSpPr>
        <p:spPr>
          <a:xfrm>
            <a:off x="8534400" y="3683000"/>
            <a:ext cx="2730500" cy="584775"/>
          </a:xfrm>
          <a:prstGeom prst="rect">
            <a:avLst/>
          </a:prstGeom>
          <a:noFill/>
        </p:spPr>
        <p:txBody>
          <a:bodyPr vert="horz" lIns="0" tIns="0" rIns="0" bIns="0" anchor="t">
            <a:spAutoFit/>
          </a:bodyPr>
          <a:lstStyle/>
          <a:p>
            <a:r>
              <a:rPr sz="1900">
                <a:solidFill>
                  <a:srgbClr val="4C525B"/>
                </a:solidFill>
                <a:latin typeface="Arial"/>
                <a:ea typeface="Arial"/>
                <a:cs typeface="Arial"/>
              </a:rPr>
              <a:t>2025 turnover growth
vs. 2.91% renewals</a:t>
            </a:r>
          </a:p>
        </p:txBody>
      </p:sp>
      <p:sp>
        <p:nvSpPr>
          <p:cNvPr id="13" name="TextBox 12">
            <a:extLst>
              <a:ext uri="{FF2B5EF4-FFF2-40B4-BE49-F238E27FC236}">
                <a16:creationId xmlns:a16="http://schemas.microsoft.com/office/drawing/2014/main" id="{48418038-2C06-B347-A424-2D3A595E14AB}"/>
              </a:ext>
            </a:extLst>
          </p:cNvPr>
          <p:cNvSpPr>
            <a:spLocks noGrp="1"/>
          </p:cNvSpPr>
          <p:nvPr/>
        </p:nvSpPr>
        <p:spPr>
          <a:xfrm>
            <a:off x="508000" y="5588000"/>
            <a:ext cx="10414000" cy="338554"/>
          </a:xfrm>
          <a:prstGeom prst="rect">
            <a:avLst/>
          </a:prstGeom>
          <a:noFill/>
        </p:spPr>
        <p:txBody>
          <a:bodyPr vert="horz" lIns="0" tIns="0" rIns="0" bIns="0" anchor="t">
            <a:spAutoFit/>
          </a:bodyPr>
          <a:lstStyle/>
          <a:p>
            <a:r>
              <a:rPr sz="2200" b="1">
                <a:solidFill>
                  <a:srgbClr val="000000"/>
                </a:solidFill>
                <a:latin typeface="Arial"/>
                <a:ea typeface="Arial"/>
                <a:cs typeface="Arial"/>
              </a:rPr>
              <a:t>Effective growth in 2025 was 3.58%, compared with 7.04% using contract rent.</a:t>
            </a:r>
          </a:p>
        </p:txBody>
      </p:sp>
      <p:sp>
        <p:nvSpPr>
          <p:cNvPr id="14" name="TextBox 13">
            <a:extLst>
              <a:ext uri="{FF2B5EF4-FFF2-40B4-BE49-F238E27FC236}">
                <a16:creationId xmlns:a16="http://schemas.microsoft.com/office/drawing/2014/main" id="{1E08FDD0-DE8D-1C81-0386-770A0EF3CC4A}"/>
              </a:ext>
            </a:extLst>
          </p:cNvPr>
          <p:cNvSpPr>
            <a:spLocks noGrp="1"/>
          </p:cNvSpPr>
          <p:nvPr/>
        </p:nvSpPr>
        <p:spPr>
          <a:xfrm>
            <a:off x="11493500" y="6502400"/>
            <a:ext cx="254000" cy="138499"/>
          </a:xfrm>
          <a:prstGeom prst="rect">
            <a:avLst/>
          </a:prstGeom>
          <a:noFill/>
        </p:spPr>
        <p:txBody>
          <a:bodyPr vert="horz" lIns="0" tIns="0" rIns="0" bIns="0" anchor="t">
            <a:spAutoFit/>
          </a:bodyPr>
          <a:lstStyle/>
          <a:p>
            <a:pPr algn="r">
              <a:buNone/>
            </a:pPr>
            <a:r>
              <a:rPr sz="900">
                <a:solidFill>
                  <a:srgbClr val="4C525B"/>
                </a:solidFill>
                <a:latin typeface="Arial"/>
                <a:ea typeface="Arial"/>
                <a:cs typeface="Arial"/>
              </a:rPr>
              <a:t>5</a:t>
            </a:r>
          </a:p>
        </p:txBody>
      </p:sp>
    </p:spTree>
    <p:extLst>
      <p:ext uri="{BB962C8B-B14F-4D97-AF65-F5344CB8AC3E}">
        <p14:creationId xmlns:p14="http://schemas.microsoft.com/office/powerpoint/2010/main" val="7283371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75B7DC-DF23-9360-6311-E727518A6FCB}"/>
              </a:ext>
            </a:extLst>
          </p:cNvPr>
          <p:cNvSpPr>
            <a:spLocks noGrp="1"/>
          </p:cNvSpPr>
          <p:nvPr/>
        </p:nvSpPr>
        <p:spPr>
          <a:xfrm>
            <a:off x="381000" y="330200"/>
            <a:ext cx="11430000" cy="553998"/>
          </a:xfrm>
          <a:prstGeom prst="rect">
            <a:avLst/>
          </a:prstGeom>
          <a:noFill/>
        </p:spPr>
        <p:txBody>
          <a:bodyPr vert="horz" lIns="0" tIns="0" rIns="0" bIns="0" anchor="t">
            <a:spAutoFit/>
          </a:bodyPr>
          <a:lstStyle/>
          <a:p>
            <a:r>
              <a:rPr sz="3600" b="1">
                <a:solidFill>
                  <a:srgbClr val="000000"/>
                </a:solidFill>
                <a:latin typeface="Arial"/>
                <a:ea typeface="Arial"/>
                <a:cs typeface="Arial"/>
              </a:rPr>
              <a:t>Market data supports a cautious forecast</a:t>
            </a:r>
          </a:p>
        </p:txBody>
      </p:sp>
      <p:sp>
        <p:nvSpPr>
          <p:cNvPr id="3" name="TextBox 2">
            <a:extLst>
              <a:ext uri="{FF2B5EF4-FFF2-40B4-BE49-F238E27FC236}">
                <a16:creationId xmlns:a16="http://schemas.microsoft.com/office/drawing/2014/main" id="{4C897955-2980-3AB8-AF30-72F3020F81BD}"/>
              </a:ext>
            </a:extLst>
          </p:cNvPr>
          <p:cNvSpPr>
            <a:spLocks noGrp="1"/>
          </p:cNvSpPr>
          <p:nvPr/>
        </p:nvSpPr>
        <p:spPr>
          <a:xfrm>
            <a:off x="508000" y="1587500"/>
            <a:ext cx="5334000" cy="1415772"/>
          </a:xfrm>
          <a:prstGeom prst="rect">
            <a:avLst/>
          </a:prstGeom>
          <a:noFill/>
        </p:spPr>
        <p:txBody>
          <a:bodyPr vert="horz" lIns="0" tIns="0" rIns="0" bIns="0" anchor="t">
            <a:spAutoFit/>
          </a:bodyPr>
          <a:lstStyle/>
          <a:p>
            <a:r>
              <a:rPr sz="2300" dirty="0">
                <a:solidFill>
                  <a:srgbClr val="000000"/>
                </a:solidFill>
                <a:latin typeface="Arial"/>
                <a:ea typeface="Arial"/>
                <a:cs typeface="Arial"/>
              </a:rPr>
              <a:t>Published market rents grew faster than </a:t>
            </a:r>
            <a:r>
              <a:rPr lang="en-US" sz="2300" dirty="0" err="1">
                <a:solidFill>
                  <a:srgbClr val="000000"/>
                </a:solidFill>
                <a:latin typeface="Arial"/>
                <a:ea typeface="Arial"/>
                <a:cs typeface="Arial"/>
              </a:rPr>
              <a:t>Jadco’s</a:t>
            </a:r>
            <a:r>
              <a:rPr sz="2300" dirty="0">
                <a:solidFill>
                  <a:srgbClr val="000000"/>
                </a:solidFill>
                <a:latin typeface="Arial"/>
                <a:ea typeface="Arial"/>
                <a:cs typeface="Arial"/>
              </a:rPr>
              <a:t> portfolio, but vacancy also increased. </a:t>
            </a:r>
            <a:r>
              <a:rPr lang="en-US" sz="2300" dirty="0">
                <a:solidFill>
                  <a:srgbClr val="000000"/>
                </a:solidFill>
                <a:latin typeface="Arial"/>
                <a:ea typeface="Arial"/>
                <a:cs typeface="Arial"/>
              </a:rPr>
              <a:t>Market data is used as a check.</a:t>
            </a:r>
            <a:endParaRPr sz="2300" dirty="0">
              <a:solidFill>
                <a:srgbClr val="000000"/>
              </a:solidFill>
              <a:latin typeface="Arial"/>
              <a:ea typeface="Arial"/>
              <a:cs typeface="Arial"/>
            </a:endParaRPr>
          </a:p>
        </p:txBody>
      </p:sp>
      <p:sp>
        <p:nvSpPr>
          <p:cNvPr id="4" name="TextBox 3">
            <a:extLst>
              <a:ext uri="{FF2B5EF4-FFF2-40B4-BE49-F238E27FC236}">
                <a16:creationId xmlns:a16="http://schemas.microsoft.com/office/drawing/2014/main" id="{0B676DD0-441F-5204-7951-99A37084C77E}"/>
              </a:ext>
            </a:extLst>
          </p:cNvPr>
          <p:cNvSpPr>
            <a:spLocks noGrp="1"/>
          </p:cNvSpPr>
          <p:nvPr/>
        </p:nvSpPr>
        <p:spPr>
          <a:xfrm>
            <a:off x="508000" y="4254500"/>
            <a:ext cx="5334000" cy="1015663"/>
          </a:xfrm>
          <a:prstGeom prst="rect">
            <a:avLst/>
          </a:prstGeom>
          <a:noFill/>
        </p:spPr>
        <p:txBody>
          <a:bodyPr vert="horz" lIns="0" tIns="0" rIns="0" bIns="0" anchor="t">
            <a:spAutoFit/>
          </a:bodyPr>
          <a:lstStyle/>
          <a:p>
            <a:r>
              <a:rPr sz="2200" b="1">
                <a:solidFill>
                  <a:srgbClr val="3D8DFF"/>
                </a:solidFill>
                <a:latin typeface="Arial"/>
                <a:ea typeface="Arial"/>
                <a:cs typeface="Arial"/>
              </a:rPr>
              <a:t>The Met is reviewed separately because Ontario rules and its short history are different.</a:t>
            </a:r>
          </a:p>
        </p:txBody>
      </p:sp>
      <p:sp>
        <p:nvSpPr>
          <p:cNvPr id="5" name="Rectangle 4">
            <a:extLst>
              <a:ext uri="{FF2B5EF4-FFF2-40B4-BE49-F238E27FC236}">
                <a16:creationId xmlns:a16="http://schemas.microsoft.com/office/drawing/2014/main" id="{C5F262DC-2B3D-C8C2-55BA-BEB770DB372E}"/>
              </a:ext>
            </a:extLst>
          </p:cNvPr>
          <p:cNvSpPr>
            <a:spLocks noGrp="1"/>
          </p:cNvSpPr>
          <p:nvPr/>
        </p:nvSpPr>
        <p:spPr>
          <a:xfrm>
            <a:off x="6604000" y="1460500"/>
            <a:ext cx="4953000" cy="4064000"/>
          </a:xfrm>
          <a:prstGeom prst="rect">
            <a:avLst/>
          </a:prstGeom>
          <a:solidFill>
            <a:srgbClr val="EDEDED"/>
          </a:solidFill>
          <a:ln w="1905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1B8FF6C8-AD82-A9F0-1D28-71CA5FE2B661}"/>
              </a:ext>
            </a:extLst>
          </p:cNvPr>
          <p:cNvSpPr>
            <a:spLocks noGrp="1"/>
          </p:cNvSpPr>
          <p:nvPr/>
        </p:nvSpPr>
        <p:spPr>
          <a:xfrm>
            <a:off x="6985000" y="1905000"/>
            <a:ext cx="355600" cy="307777"/>
          </a:xfrm>
          <a:prstGeom prst="rect">
            <a:avLst/>
          </a:prstGeom>
          <a:noFill/>
        </p:spPr>
        <p:txBody>
          <a:bodyPr vert="horz" lIns="0" tIns="0" rIns="0" bIns="0" anchor="t">
            <a:spAutoFit/>
          </a:bodyPr>
          <a:lstStyle/>
          <a:p>
            <a:r>
              <a:rPr sz="2000" b="1">
                <a:solidFill>
                  <a:srgbClr val="3D8DFF"/>
                </a:solidFill>
                <a:latin typeface="Arial"/>
                <a:ea typeface="Arial"/>
                <a:cs typeface="Arial"/>
              </a:rPr>
              <a:t>&gt;</a:t>
            </a:r>
          </a:p>
        </p:txBody>
      </p:sp>
      <p:sp>
        <p:nvSpPr>
          <p:cNvPr id="7" name="TextBox 6">
            <a:extLst>
              <a:ext uri="{FF2B5EF4-FFF2-40B4-BE49-F238E27FC236}">
                <a16:creationId xmlns:a16="http://schemas.microsoft.com/office/drawing/2014/main" id="{B24300F3-EAF9-4E29-1AA7-FAB879630A23}"/>
              </a:ext>
            </a:extLst>
          </p:cNvPr>
          <p:cNvSpPr>
            <a:spLocks noGrp="1"/>
          </p:cNvSpPr>
          <p:nvPr/>
        </p:nvSpPr>
        <p:spPr>
          <a:xfrm>
            <a:off x="7493000" y="1879600"/>
            <a:ext cx="3492500" cy="553998"/>
          </a:xfrm>
          <a:prstGeom prst="rect">
            <a:avLst/>
          </a:prstGeom>
          <a:noFill/>
        </p:spPr>
        <p:txBody>
          <a:bodyPr vert="horz" lIns="0" tIns="0" rIns="0" bIns="0" anchor="t">
            <a:spAutoFit/>
          </a:bodyPr>
          <a:lstStyle/>
          <a:p>
            <a:r>
              <a:rPr>
                <a:solidFill>
                  <a:srgbClr val="000000"/>
                </a:solidFill>
                <a:latin typeface="Arial"/>
                <a:ea typeface="Arial"/>
                <a:cs typeface="Arial"/>
              </a:rPr>
              <a:t>Montréal: 7.4% CMHC rent growth in 2025</a:t>
            </a:r>
          </a:p>
        </p:txBody>
      </p:sp>
      <p:sp>
        <p:nvSpPr>
          <p:cNvPr id="8" name="TextBox 7">
            <a:extLst>
              <a:ext uri="{FF2B5EF4-FFF2-40B4-BE49-F238E27FC236}">
                <a16:creationId xmlns:a16="http://schemas.microsoft.com/office/drawing/2014/main" id="{21C3394A-E69E-54F5-56B3-D67A59A7E7CC}"/>
              </a:ext>
            </a:extLst>
          </p:cNvPr>
          <p:cNvSpPr>
            <a:spLocks noGrp="1"/>
          </p:cNvSpPr>
          <p:nvPr/>
        </p:nvSpPr>
        <p:spPr>
          <a:xfrm>
            <a:off x="6985000" y="2730500"/>
            <a:ext cx="355600" cy="307777"/>
          </a:xfrm>
          <a:prstGeom prst="rect">
            <a:avLst/>
          </a:prstGeom>
          <a:noFill/>
        </p:spPr>
        <p:txBody>
          <a:bodyPr vert="horz" lIns="0" tIns="0" rIns="0" bIns="0" anchor="t">
            <a:spAutoFit/>
          </a:bodyPr>
          <a:lstStyle/>
          <a:p>
            <a:r>
              <a:rPr sz="2000" b="1">
                <a:solidFill>
                  <a:srgbClr val="3D8DFF"/>
                </a:solidFill>
                <a:latin typeface="Arial"/>
                <a:ea typeface="Arial"/>
                <a:cs typeface="Arial"/>
              </a:rPr>
              <a:t>&gt;</a:t>
            </a:r>
          </a:p>
        </p:txBody>
      </p:sp>
      <p:sp>
        <p:nvSpPr>
          <p:cNvPr id="9" name="TextBox 8">
            <a:extLst>
              <a:ext uri="{FF2B5EF4-FFF2-40B4-BE49-F238E27FC236}">
                <a16:creationId xmlns:a16="http://schemas.microsoft.com/office/drawing/2014/main" id="{23151603-7FFA-2ACE-6990-7B4FF3E084F2}"/>
              </a:ext>
            </a:extLst>
          </p:cNvPr>
          <p:cNvSpPr>
            <a:spLocks noGrp="1"/>
          </p:cNvSpPr>
          <p:nvPr/>
        </p:nvSpPr>
        <p:spPr>
          <a:xfrm>
            <a:off x="7493000" y="2705100"/>
            <a:ext cx="3492500" cy="548640"/>
          </a:xfrm>
          <a:prstGeom prst="rect">
            <a:avLst/>
          </a:prstGeom>
          <a:noFill/>
        </p:spPr>
        <p:txBody>
          <a:bodyPr vert="horz" lIns="0" tIns="0" rIns="0" bIns="0" anchor="t">
            <a:spAutoFit/>
          </a:bodyPr>
          <a:lstStyle/>
          <a:p>
            <a:r>
              <a:rPr>
                <a:solidFill>
                  <a:srgbClr val="000000"/>
                </a:solidFill>
                <a:latin typeface="Arial"/>
                <a:ea typeface="Arial"/>
                <a:cs typeface="Arial"/>
              </a:rPr>
              <a:t>Vacancy: 1.5% → 2.9% from 2023 to 2025</a:t>
            </a:r>
          </a:p>
        </p:txBody>
      </p:sp>
      <p:sp>
        <p:nvSpPr>
          <p:cNvPr id="10" name="TextBox 9">
            <a:extLst>
              <a:ext uri="{FF2B5EF4-FFF2-40B4-BE49-F238E27FC236}">
                <a16:creationId xmlns:a16="http://schemas.microsoft.com/office/drawing/2014/main" id="{DD8582AA-B30D-A3A8-F780-AE627BA96CEE}"/>
              </a:ext>
            </a:extLst>
          </p:cNvPr>
          <p:cNvSpPr>
            <a:spLocks noGrp="1"/>
          </p:cNvSpPr>
          <p:nvPr/>
        </p:nvSpPr>
        <p:spPr>
          <a:xfrm>
            <a:off x="6985000" y="3556000"/>
            <a:ext cx="355600" cy="307777"/>
          </a:xfrm>
          <a:prstGeom prst="rect">
            <a:avLst/>
          </a:prstGeom>
          <a:noFill/>
        </p:spPr>
        <p:txBody>
          <a:bodyPr vert="horz" lIns="0" tIns="0" rIns="0" bIns="0" anchor="t">
            <a:spAutoFit/>
          </a:bodyPr>
          <a:lstStyle/>
          <a:p>
            <a:r>
              <a:rPr sz="2000" b="1">
                <a:solidFill>
                  <a:srgbClr val="3D8DFF"/>
                </a:solidFill>
                <a:latin typeface="Arial"/>
                <a:ea typeface="Arial"/>
                <a:cs typeface="Arial"/>
              </a:rPr>
              <a:t>&gt;</a:t>
            </a:r>
          </a:p>
        </p:txBody>
      </p:sp>
      <p:sp>
        <p:nvSpPr>
          <p:cNvPr id="11" name="TextBox 10">
            <a:extLst>
              <a:ext uri="{FF2B5EF4-FFF2-40B4-BE49-F238E27FC236}">
                <a16:creationId xmlns:a16="http://schemas.microsoft.com/office/drawing/2014/main" id="{32A01605-8D20-2240-7D06-ACB98BD80E9D}"/>
              </a:ext>
            </a:extLst>
          </p:cNvPr>
          <p:cNvSpPr>
            <a:spLocks noGrp="1"/>
          </p:cNvSpPr>
          <p:nvPr/>
        </p:nvSpPr>
        <p:spPr>
          <a:xfrm>
            <a:off x="7493000" y="3530600"/>
            <a:ext cx="3492500" cy="822960"/>
          </a:xfrm>
          <a:prstGeom prst="rect">
            <a:avLst/>
          </a:prstGeom>
          <a:noFill/>
        </p:spPr>
        <p:txBody>
          <a:bodyPr vert="horz" lIns="0" tIns="0" rIns="0" bIns="0" anchor="t">
            <a:spAutoFit/>
          </a:bodyPr>
          <a:lstStyle/>
          <a:p>
            <a:r>
              <a:rPr>
                <a:solidFill>
                  <a:srgbClr val="000000"/>
                </a:solidFill>
                <a:latin typeface="Arial"/>
                <a:ea typeface="Arial"/>
                <a:cs typeface="Arial"/>
              </a:rPr>
              <a:t>The Met opened in 2022; Ontario's guideline generally does not apply</a:t>
            </a:r>
          </a:p>
        </p:txBody>
      </p:sp>
      <p:sp>
        <p:nvSpPr>
          <p:cNvPr id="12" name="TextBox 11">
            <a:extLst>
              <a:ext uri="{FF2B5EF4-FFF2-40B4-BE49-F238E27FC236}">
                <a16:creationId xmlns:a16="http://schemas.microsoft.com/office/drawing/2014/main" id="{6EE61A43-BC7F-5976-B379-7A6F80347579}"/>
              </a:ext>
            </a:extLst>
          </p:cNvPr>
          <p:cNvSpPr>
            <a:spLocks noGrp="1"/>
          </p:cNvSpPr>
          <p:nvPr/>
        </p:nvSpPr>
        <p:spPr>
          <a:xfrm>
            <a:off x="6985000" y="4381500"/>
            <a:ext cx="355600" cy="307777"/>
          </a:xfrm>
          <a:prstGeom prst="rect">
            <a:avLst/>
          </a:prstGeom>
          <a:noFill/>
        </p:spPr>
        <p:txBody>
          <a:bodyPr vert="horz" lIns="0" tIns="0" rIns="0" bIns="0" anchor="t">
            <a:spAutoFit/>
          </a:bodyPr>
          <a:lstStyle/>
          <a:p>
            <a:r>
              <a:rPr sz="2000" b="1">
                <a:solidFill>
                  <a:srgbClr val="3D8DFF"/>
                </a:solidFill>
                <a:latin typeface="Arial"/>
                <a:ea typeface="Arial"/>
                <a:cs typeface="Arial"/>
              </a:rPr>
              <a:t>&gt;</a:t>
            </a:r>
          </a:p>
        </p:txBody>
      </p:sp>
      <p:sp>
        <p:nvSpPr>
          <p:cNvPr id="13" name="TextBox 12">
            <a:extLst>
              <a:ext uri="{FF2B5EF4-FFF2-40B4-BE49-F238E27FC236}">
                <a16:creationId xmlns:a16="http://schemas.microsoft.com/office/drawing/2014/main" id="{2CA43829-8FAD-0A17-4F14-40E44C1BA212}"/>
              </a:ext>
            </a:extLst>
          </p:cNvPr>
          <p:cNvSpPr>
            <a:spLocks noGrp="1"/>
          </p:cNvSpPr>
          <p:nvPr/>
        </p:nvSpPr>
        <p:spPr>
          <a:xfrm>
            <a:off x="7493000" y="4356100"/>
            <a:ext cx="3492500" cy="276999"/>
          </a:xfrm>
          <a:prstGeom prst="rect">
            <a:avLst/>
          </a:prstGeom>
          <a:noFill/>
        </p:spPr>
        <p:txBody>
          <a:bodyPr vert="horz" lIns="0" tIns="0" rIns="0" bIns="0" anchor="t">
            <a:spAutoFit/>
          </a:bodyPr>
          <a:lstStyle/>
          <a:p>
            <a:r>
              <a:rPr>
                <a:solidFill>
                  <a:srgbClr val="000000"/>
                </a:solidFill>
                <a:latin typeface="Arial"/>
                <a:ea typeface="Arial"/>
                <a:cs typeface="Arial"/>
              </a:rPr>
              <a:t>Two years—no separate forecast</a:t>
            </a:r>
          </a:p>
        </p:txBody>
      </p:sp>
      <p:sp>
        <p:nvSpPr>
          <p:cNvPr id="14" name="TextBox 13">
            <a:extLst>
              <a:ext uri="{FF2B5EF4-FFF2-40B4-BE49-F238E27FC236}">
                <a16:creationId xmlns:a16="http://schemas.microsoft.com/office/drawing/2014/main" id="{37D6E54A-0FAE-B92E-2B40-B771F36DB074}"/>
              </a:ext>
            </a:extLst>
          </p:cNvPr>
          <p:cNvSpPr>
            <a:spLocks noGrp="1"/>
          </p:cNvSpPr>
          <p:nvPr/>
        </p:nvSpPr>
        <p:spPr>
          <a:xfrm>
            <a:off x="11493500" y="6502400"/>
            <a:ext cx="254000" cy="138499"/>
          </a:xfrm>
          <a:prstGeom prst="rect">
            <a:avLst/>
          </a:prstGeom>
          <a:noFill/>
        </p:spPr>
        <p:txBody>
          <a:bodyPr vert="horz" lIns="0" tIns="0" rIns="0" bIns="0" anchor="t">
            <a:spAutoFit/>
          </a:bodyPr>
          <a:lstStyle/>
          <a:p>
            <a:pPr algn="r">
              <a:buNone/>
            </a:pPr>
            <a:r>
              <a:rPr sz="900">
                <a:solidFill>
                  <a:srgbClr val="4C525B"/>
                </a:solidFill>
                <a:latin typeface="Arial"/>
                <a:ea typeface="Arial"/>
                <a:cs typeface="Arial"/>
              </a:rPr>
              <a:t>6</a:t>
            </a:r>
          </a:p>
        </p:txBody>
      </p:sp>
    </p:spTree>
    <p:extLst>
      <p:ext uri="{BB962C8B-B14F-4D97-AF65-F5344CB8AC3E}">
        <p14:creationId xmlns:p14="http://schemas.microsoft.com/office/powerpoint/2010/main" val="7115238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3E5146B-9667-888C-D9B8-51DA7F0658CA}"/>
              </a:ext>
            </a:extLst>
          </p:cNvPr>
          <p:cNvSpPr>
            <a:spLocks noGrp="1"/>
          </p:cNvSpPr>
          <p:nvPr/>
        </p:nvSpPr>
        <p:spPr>
          <a:xfrm>
            <a:off x="381000" y="330200"/>
            <a:ext cx="11303000" cy="553998"/>
          </a:xfrm>
          <a:prstGeom prst="rect">
            <a:avLst/>
          </a:prstGeom>
          <a:noFill/>
        </p:spPr>
        <p:txBody>
          <a:bodyPr vert="horz" lIns="0" tIns="0" rIns="0" bIns="0" anchor="t">
            <a:spAutoFit/>
          </a:bodyPr>
          <a:lstStyle/>
          <a:p>
            <a:r>
              <a:rPr sz="3600" b="1">
                <a:solidFill>
                  <a:srgbClr val="000000"/>
                </a:solidFill>
                <a:latin typeface="Arial"/>
                <a:ea typeface="Arial"/>
                <a:cs typeface="Arial"/>
              </a:rPr>
              <a:t>Use 2.46% as the 2026 planning baseline</a:t>
            </a:r>
          </a:p>
        </p:txBody>
      </p:sp>
      <p:sp>
        <p:nvSpPr>
          <p:cNvPr id="5" name="TextBox 4">
            <a:extLst>
              <a:ext uri="{FF2B5EF4-FFF2-40B4-BE49-F238E27FC236}">
                <a16:creationId xmlns:a16="http://schemas.microsoft.com/office/drawing/2014/main" id="{919DF10C-956C-F7C2-E0C1-7871678568ED}"/>
              </a:ext>
            </a:extLst>
          </p:cNvPr>
          <p:cNvSpPr>
            <a:spLocks noGrp="1"/>
          </p:cNvSpPr>
          <p:nvPr/>
        </p:nvSpPr>
        <p:spPr>
          <a:xfrm>
            <a:off x="8445500" y="1524000"/>
            <a:ext cx="2921000" cy="615553"/>
          </a:xfrm>
          <a:prstGeom prst="rect">
            <a:avLst/>
          </a:prstGeom>
          <a:noFill/>
        </p:spPr>
        <p:txBody>
          <a:bodyPr vert="horz" lIns="0" tIns="0" rIns="0" bIns="0" anchor="t">
            <a:spAutoFit/>
          </a:bodyPr>
          <a:lstStyle/>
          <a:p>
            <a:r>
              <a:rPr sz="4000" b="1">
                <a:solidFill>
                  <a:srgbClr val="000000"/>
                </a:solidFill>
                <a:latin typeface="Arial"/>
                <a:ea typeface="Arial"/>
                <a:cs typeface="Arial"/>
              </a:rPr>
              <a:t>2.46%</a:t>
            </a:r>
          </a:p>
        </p:txBody>
      </p:sp>
      <p:sp>
        <p:nvSpPr>
          <p:cNvPr id="6" name="TextBox 5">
            <a:extLst>
              <a:ext uri="{FF2B5EF4-FFF2-40B4-BE49-F238E27FC236}">
                <a16:creationId xmlns:a16="http://schemas.microsoft.com/office/drawing/2014/main" id="{C953D815-E4F7-8B1A-2310-2A34C7B77053}"/>
              </a:ext>
            </a:extLst>
          </p:cNvPr>
          <p:cNvSpPr>
            <a:spLocks noGrp="1"/>
          </p:cNvSpPr>
          <p:nvPr/>
        </p:nvSpPr>
        <p:spPr>
          <a:xfrm>
            <a:off x="8445500" y="2222500"/>
            <a:ext cx="2921000" cy="276999"/>
          </a:xfrm>
          <a:prstGeom prst="rect">
            <a:avLst/>
          </a:prstGeom>
          <a:noFill/>
        </p:spPr>
        <p:txBody>
          <a:bodyPr vert="horz" lIns="0" tIns="0" rIns="0" bIns="0" anchor="t">
            <a:spAutoFit/>
          </a:bodyPr>
          <a:lstStyle/>
          <a:p>
            <a:r>
              <a:rPr>
                <a:solidFill>
                  <a:srgbClr val="4C525B"/>
                </a:solidFill>
                <a:latin typeface="Arial"/>
                <a:ea typeface="Arial"/>
                <a:cs typeface="Arial"/>
              </a:rPr>
              <a:t>Central forecast</a:t>
            </a:r>
          </a:p>
        </p:txBody>
      </p:sp>
      <p:sp>
        <p:nvSpPr>
          <p:cNvPr id="7" name="Straight Connector 6">
            <a:extLst>
              <a:ext uri="{FF2B5EF4-FFF2-40B4-BE49-F238E27FC236}">
                <a16:creationId xmlns:a16="http://schemas.microsoft.com/office/drawing/2014/main" id="{2C90CBD8-E3CB-487F-91CB-9DC36CEDA315}"/>
              </a:ext>
            </a:extLst>
          </p:cNvPr>
          <p:cNvSpPr>
            <a:spLocks noGrp="1"/>
          </p:cNvSpPr>
          <p:nvPr/>
        </p:nvSpPr>
        <p:spPr>
          <a:xfrm>
            <a:off x="8445500" y="2857500"/>
            <a:ext cx="2921000" cy="0"/>
          </a:xfrm>
          <a:prstGeom prst="line">
            <a:avLst/>
          </a:prstGeom>
          <a:ln w="12700">
            <a:solidFill>
              <a:srgbClr val="B8BCC4"/>
            </a:solidFill>
          </a:ln>
        </p:spPr>
        <p:style>
          <a:lnRef idx="2">
            <a:schemeClr val="accent1"/>
          </a:lnRef>
          <a:fillRef idx="0">
            <a:schemeClr val="accent1"/>
          </a:fillRef>
          <a:effectRef idx="1">
            <a:schemeClr val="accent1"/>
          </a:effectRef>
          <a:fontRef idx="minor">
            <a:schemeClr val="tx1"/>
          </a:fontRef>
        </p:style>
        <p:txBody>
          <a:bodyPr/>
          <a:lstStyle/>
          <a:p>
            <a:endParaRPr lang="fr-CA"/>
          </a:p>
        </p:txBody>
      </p:sp>
      <p:sp>
        <p:nvSpPr>
          <p:cNvPr id="8" name="TextBox 7">
            <a:extLst>
              <a:ext uri="{FF2B5EF4-FFF2-40B4-BE49-F238E27FC236}">
                <a16:creationId xmlns:a16="http://schemas.microsoft.com/office/drawing/2014/main" id="{20703F6B-8B44-DF30-8BAD-67C74AC204B5}"/>
              </a:ext>
            </a:extLst>
          </p:cNvPr>
          <p:cNvSpPr>
            <a:spLocks noGrp="1"/>
          </p:cNvSpPr>
          <p:nvPr/>
        </p:nvSpPr>
        <p:spPr>
          <a:xfrm>
            <a:off x="8445500" y="3149600"/>
            <a:ext cx="3048000" cy="446276"/>
          </a:xfrm>
          <a:prstGeom prst="rect">
            <a:avLst/>
          </a:prstGeom>
          <a:noFill/>
        </p:spPr>
        <p:txBody>
          <a:bodyPr vert="horz" lIns="0" tIns="0" rIns="0" bIns="0" anchor="t">
            <a:spAutoFit/>
          </a:bodyPr>
          <a:lstStyle/>
          <a:p>
            <a:r>
              <a:rPr sz="2900" b="1">
                <a:solidFill>
                  <a:srgbClr val="000000"/>
                </a:solidFill>
                <a:latin typeface="Arial"/>
                <a:ea typeface="Arial"/>
                <a:cs typeface="Arial"/>
              </a:rPr>
              <a:t>1.09% to 3.82%</a:t>
            </a:r>
          </a:p>
        </p:txBody>
      </p:sp>
      <p:sp>
        <p:nvSpPr>
          <p:cNvPr id="9" name="TextBox 8">
            <a:extLst>
              <a:ext uri="{FF2B5EF4-FFF2-40B4-BE49-F238E27FC236}">
                <a16:creationId xmlns:a16="http://schemas.microsoft.com/office/drawing/2014/main" id="{8E86A58D-845A-0319-2AF6-0A22F2A7E62F}"/>
              </a:ext>
            </a:extLst>
          </p:cNvPr>
          <p:cNvSpPr>
            <a:spLocks noGrp="1"/>
          </p:cNvSpPr>
          <p:nvPr/>
        </p:nvSpPr>
        <p:spPr>
          <a:xfrm>
            <a:off x="8445500" y="3733800"/>
            <a:ext cx="2921000" cy="276999"/>
          </a:xfrm>
          <a:prstGeom prst="rect">
            <a:avLst/>
          </a:prstGeom>
          <a:noFill/>
        </p:spPr>
        <p:txBody>
          <a:bodyPr vert="horz" lIns="0" tIns="0" rIns="0" bIns="0" anchor="t">
            <a:spAutoFit/>
          </a:bodyPr>
          <a:lstStyle/>
          <a:p>
            <a:r>
              <a:rPr>
                <a:solidFill>
                  <a:srgbClr val="4C525B"/>
                </a:solidFill>
                <a:latin typeface="Arial"/>
                <a:ea typeface="Arial"/>
                <a:cs typeface="Arial"/>
              </a:rPr>
              <a:t>Planning range</a:t>
            </a:r>
          </a:p>
        </p:txBody>
      </p:sp>
      <p:sp>
        <p:nvSpPr>
          <p:cNvPr id="10" name="Straight Connector 9">
            <a:extLst>
              <a:ext uri="{FF2B5EF4-FFF2-40B4-BE49-F238E27FC236}">
                <a16:creationId xmlns:a16="http://schemas.microsoft.com/office/drawing/2014/main" id="{BFDBC410-694E-4D7C-830D-FD2D0931F79A}"/>
              </a:ext>
            </a:extLst>
          </p:cNvPr>
          <p:cNvSpPr>
            <a:spLocks noGrp="1"/>
          </p:cNvSpPr>
          <p:nvPr/>
        </p:nvSpPr>
        <p:spPr>
          <a:xfrm>
            <a:off x="8445500" y="4368800"/>
            <a:ext cx="2921000" cy="0"/>
          </a:xfrm>
          <a:prstGeom prst="line">
            <a:avLst/>
          </a:prstGeom>
          <a:ln w="12700">
            <a:solidFill>
              <a:srgbClr val="B8BCC4"/>
            </a:solidFill>
          </a:ln>
        </p:spPr>
        <p:style>
          <a:lnRef idx="2">
            <a:schemeClr val="accent1"/>
          </a:lnRef>
          <a:fillRef idx="0">
            <a:schemeClr val="accent1"/>
          </a:fillRef>
          <a:effectRef idx="1">
            <a:schemeClr val="accent1"/>
          </a:effectRef>
          <a:fontRef idx="minor">
            <a:schemeClr val="tx1"/>
          </a:fontRef>
        </p:style>
        <p:txBody>
          <a:bodyPr/>
          <a:lstStyle/>
          <a:p>
            <a:endParaRPr lang="fr-CA"/>
          </a:p>
        </p:txBody>
      </p:sp>
      <p:sp>
        <p:nvSpPr>
          <p:cNvPr id="11" name="TextBox 10">
            <a:extLst>
              <a:ext uri="{FF2B5EF4-FFF2-40B4-BE49-F238E27FC236}">
                <a16:creationId xmlns:a16="http://schemas.microsoft.com/office/drawing/2014/main" id="{A572CA57-28C0-3CD1-0390-9B045844EF47}"/>
              </a:ext>
            </a:extLst>
          </p:cNvPr>
          <p:cNvSpPr>
            <a:spLocks noGrp="1"/>
          </p:cNvSpPr>
          <p:nvPr/>
        </p:nvSpPr>
        <p:spPr>
          <a:xfrm>
            <a:off x="8445500" y="4660900"/>
            <a:ext cx="2921000" cy="446276"/>
          </a:xfrm>
          <a:prstGeom prst="rect">
            <a:avLst/>
          </a:prstGeom>
          <a:noFill/>
        </p:spPr>
        <p:txBody>
          <a:bodyPr vert="horz" lIns="0" tIns="0" rIns="0" bIns="0" anchor="t">
            <a:spAutoFit/>
          </a:bodyPr>
          <a:lstStyle/>
          <a:p>
            <a:r>
              <a:rPr sz="2900" b="1">
                <a:solidFill>
                  <a:srgbClr val="000000"/>
                </a:solidFill>
                <a:latin typeface="Arial"/>
                <a:ea typeface="Arial"/>
                <a:cs typeface="Arial"/>
              </a:rPr>
              <a:t>1.36 pp</a:t>
            </a:r>
          </a:p>
        </p:txBody>
      </p:sp>
      <p:sp>
        <p:nvSpPr>
          <p:cNvPr id="12" name="TextBox 11">
            <a:extLst>
              <a:ext uri="{FF2B5EF4-FFF2-40B4-BE49-F238E27FC236}">
                <a16:creationId xmlns:a16="http://schemas.microsoft.com/office/drawing/2014/main" id="{290DDE03-453C-D41D-6347-147EE706A1F3}"/>
              </a:ext>
            </a:extLst>
          </p:cNvPr>
          <p:cNvSpPr>
            <a:spLocks noGrp="1"/>
          </p:cNvSpPr>
          <p:nvPr/>
        </p:nvSpPr>
        <p:spPr>
          <a:xfrm>
            <a:off x="8445500" y="5232400"/>
            <a:ext cx="3048000" cy="276999"/>
          </a:xfrm>
          <a:prstGeom prst="rect">
            <a:avLst/>
          </a:prstGeom>
          <a:noFill/>
        </p:spPr>
        <p:txBody>
          <a:bodyPr vert="horz" lIns="0" tIns="0" rIns="0" bIns="0" anchor="t">
            <a:spAutoFit/>
          </a:bodyPr>
          <a:lstStyle/>
          <a:p>
            <a:r>
              <a:rPr>
                <a:solidFill>
                  <a:srgbClr val="4C525B"/>
                </a:solidFill>
                <a:latin typeface="Arial"/>
                <a:ea typeface="Arial"/>
                <a:cs typeface="Arial"/>
              </a:rPr>
              <a:t>Backtest MAE, 2023-2025</a:t>
            </a:r>
          </a:p>
        </p:txBody>
      </p:sp>
      <p:sp>
        <p:nvSpPr>
          <p:cNvPr id="14" name="TextBox 13">
            <a:extLst>
              <a:ext uri="{FF2B5EF4-FFF2-40B4-BE49-F238E27FC236}">
                <a16:creationId xmlns:a16="http://schemas.microsoft.com/office/drawing/2014/main" id="{ECB0830F-3434-2857-C4D0-7A6DA679DA6C}"/>
              </a:ext>
            </a:extLst>
          </p:cNvPr>
          <p:cNvSpPr>
            <a:spLocks noGrp="1"/>
          </p:cNvSpPr>
          <p:nvPr/>
        </p:nvSpPr>
        <p:spPr>
          <a:xfrm>
            <a:off x="11493500" y="6502400"/>
            <a:ext cx="254000" cy="138499"/>
          </a:xfrm>
          <a:prstGeom prst="rect">
            <a:avLst/>
          </a:prstGeom>
          <a:noFill/>
        </p:spPr>
        <p:txBody>
          <a:bodyPr vert="horz" lIns="0" tIns="0" rIns="0" bIns="0" anchor="t">
            <a:spAutoFit/>
          </a:bodyPr>
          <a:lstStyle/>
          <a:p>
            <a:pPr algn="r">
              <a:buNone/>
            </a:pPr>
            <a:r>
              <a:rPr sz="900">
                <a:solidFill>
                  <a:srgbClr val="4C525B"/>
                </a:solidFill>
                <a:latin typeface="Arial"/>
                <a:ea typeface="Arial"/>
                <a:cs typeface="Arial"/>
              </a:rPr>
              <a:t>7</a:t>
            </a:r>
          </a:p>
        </p:txBody>
      </p:sp>
      <p:graphicFrame>
        <p:nvGraphicFramePr>
          <p:cNvPr id="27" name="Backtest predicted versus actual"/>
          <p:cNvGraphicFramePr/>
          <p:nvPr/>
        </p:nvGraphicFramePr>
        <p:xfrm>
          <a:off x="523875" y="1381125"/>
          <a:ext cx="7191375" cy="390525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2012645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885</Words>
  <Application>Microsoft Office PowerPoint</Application>
  <DocSecurity>0</DocSecurity>
  <PresentationFormat>Widescreen</PresentationFormat>
  <Paragraphs>85</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Sami Erafii</cp:lastModifiedBy>
  <cp:revision>1</cp:revision>
  <dcterms:created xsi:type="dcterms:W3CDTF">2026-10-04T14:05:56Z</dcterms:created>
  <dcterms:modified xsi:type="dcterms:W3CDTF">2026-10-04T14:12:13Z</dcterms:modified>
</cp:coreProperties>
</file>