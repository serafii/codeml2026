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4085" autoAdjust="0"/>
    <p:restoredTop sz="94660"/>
  </p:normalViewPr>
  <p:slideViewPr>
    <p:cSldViewPr snapToGrid="0">
      <p:cViewPr varScale="1">
        <p:scale>
          <a:sx n="74" d="100"/>
          <a:sy n="74" d="100"/>
        </p:scale>
        <p:origin x="72" y="15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8E74214-38DB-46C8-B296-B745488EBDA5}" type="datetimeFigureOut">
              <a:rPr lang="fr-CA" smtClean="0"/>
              <a:t>2026-10-04</a:t>
            </a:fld>
            <a:endParaRPr lang="fr-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6DAE5E7-7154-4F07-BF90-BD24BDC96577}" type="slidenum">
              <a:rPr lang="fr-CA" smtClean="0"/>
              <a:t>‹#›</a:t>
            </a:fld>
            <a:endParaRPr lang="fr-CA"/>
          </a:p>
        </p:txBody>
      </p:sp>
    </p:spTree>
    <p:extLst>
      <p:ext uri="{BB962C8B-B14F-4D97-AF65-F5344CB8AC3E}">
        <p14:creationId xmlns:p14="http://schemas.microsoft.com/office/powerpoint/2010/main" val="1717005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estimate the 2026 increase in effective rent for Collection Equinoxe. The method is deliberately simple so every step can be checked and explained.
[Sources]
- Internal analysis: rent_forecasting.ipynb
- Challenge brief: data/consignes.pdf</a:t>
            </a:r>
            <a:endParaRPr lang="fr-CA"/>
          </a:p>
        </p:txBody>
      </p:sp>
      <p:sp>
        <p:nvSpPr>
          <p:cNvPr id="4" name="Slide Number Placeholder 3"/>
          <p:cNvSpPr>
            <a:spLocks noGrp="1"/>
          </p:cNvSpPr>
          <p:nvPr>
            <p:ph type="sldNum" sz="quarter" idx="5"/>
          </p:nvPr>
        </p:nvSpPr>
        <p:spPr/>
        <p:txBody>
          <a:bodyPr/>
          <a:lstStyle/>
          <a:p>
            <a:fld id="{36DAE5E7-7154-4F07-BF90-BD24BDC96577}" type="slidenum">
              <a:rPr lang="fr-CA" smtClean="0"/>
              <a:t>1</a:t>
            </a:fld>
            <a:endParaRPr lang="fr-CA"/>
          </a:p>
        </p:txBody>
      </p:sp>
    </p:spTree>
    <p:extLst>
      <p:ext uri="{BB962C8B-B14F-4D97-AF65-F5344CB8AC3E}">
        <p14:creationId xmlns:p14="http://schemas.microsoft.com/office/powerpoint/2010/main" val="15199713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buildings and unit mix changed over time, so the median of all leases is not a clean measure of rent growth. The 2023 example shows the size of that bias. We therefore match the same apartment across consecutive leases.
[Sources]
- Internal CRM analysis: rent_forecasting.ipynb, composition and same-unit sections</a:t>
            </a:r>
            <a:endParaRPr lang="fr-CA"/>
          </a:p>
        </p:txBody>
      </p:sp>
      <p:sp>
        <p:nvSpPr>
          <p:cNvPr id="4" name="Slide Number Placeholder 3"/>
          <p:cNvSpPr>
            <a:spLocks noGrp="1"/>
          </p:cNvSpPr>
          <p:nvPr>
            <p:ph type="sldNum" sz="quarter" idx="5"/>
          </p:nvPr>
        </p:nvSpPr>
        <p:spPr/>
        <p:txBody>
          <a:bodyPr/>
          <a:lstStyle/>
          <a:p>
            <a:fld id="{36DAE5E7-7154-4F07-BF90-BD24BDC96577}" type="slidenum">
              <a:rPr lang="fr-CA" smtClean="0"/>
              <a:t>2</a:t>
            </a:fld>
            <a:endParaRPr lang="fr-CA"/>
          </a:p>
        </p:txBody>
      </p:sp>
    </p:spTree>
    <p:extLst>
      <p:ext uri="{BB962C8B-B14F-4D97-AF65-F5344CB8AC3E}">
        <p14:creationId xmlns:p14="http://schemas.microsoft.com/office/powerpoint/2010/main" val="11164514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unit key and time-gap filter come directly from the challenge method. Effective rent is the target because it includes concessions. The same helper is used for the final estimate and every historical backtest, which prevents the two functions from drifting apart.
[Sources]
- Method and function definitions: rent_forecasting.ipynb
- Official starter and challenge brief: starter.ipynb and data/consignes.pdf</a:t>
            </a:r>
            <a:endParaRPr lang="fr-CA"/>
          </a:p>
        </p:txBody>
      </p:sp>
      <p:sp>
        <p:nvSpPr>
          <p:cNvPr id="4" name="Slide Number Placeholder 3"/>
          <p:cNvSpPr>
            <a:spLocks noGrp="1"/>
          </p:cNvSpPr>
          <p:nvPr>
            <p:ph type="sldNum" sz="quarter" idx="5"/>
          </p:nvPr>
        </p:nvSpPr>
        <p:spPr/>
        <p:txBody>
          <a:bodyPr/>
          <a:lstStyle/>
          <a:p>
            <a:fld id="{36DAE5E7-7154-4F07-BF90-BD24BDC96577}" type="slidenum">
              <a:rPr lang="fr-CA" smtClean="0"/>
              <a:t>3</a:t>
            </a:fld>
            <a:endParaRPr lang="fr-CA"/>
          </a:p>
        </p:txBody>
      </p:sp>
    </p:spTree>
    <p:extLst>
      <p:ext uri="{BB962C8B-B14F-4D97-AF65-F5344CB8AC3E}">
        <p14:creationId xmlns:p14="http://schemas.microsoft.com/office/powerpoint/2010/main" val="9331281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Concessions became more common and larger in 2024 and 2025. Turnover growth was also higher than renewal growth in 2025. This is why the forecast uses effective rent and reports the two lease types separately.
[Sources]
- Internal CRM analysis: rent_forecasting.ipynb, concessions and renewal/turnover sections</a:t>
            </a:r>
            <a:endParaRPr lang="fr-CA"/>
          </a:p>
        </p:txBody>
      </p:sp>
      <p:sp>
        <p:nvSpPr>
          <p:cNvPr id="4" name="Slide Number Placeholder 3"/>
          <p:cNvSpPr>
            <a:spLocks noGrp="1"/>
          </p:cNvSpPr>
          <p:nvPr>
            <p:ph type="sldNum" sz="quarter" idx="5"/>
          </p:nvPr>
        </p:nvSpPr>
        <p:spPr/>
        <p:txBody>
          <a:bodyPr/>
          <a:lstStyle/>
          <a:p>
            <a:fld id="{36DAE5E7-7154-4F07-BF90-BD24BDC96577}" type="slidenum">
              <a:rPr lang="fr-CA" smtClean="0"/>
              <a:t>4</a:t>
            </a:fld>
            <a:endParaRPr lang="fr-CA"/>
          </a:p>
        </p:txBody>
      </p:sp>
    </p:spTree>
    <p:extLst>
      <p:ext uri="{BB962C8B-B14F-4D97-AF65-F5344CB8AC3E}">
        <p14:creationId xmlns:p14="http://schemas.microsoft.com/office/powerpoint/2010/main" val="36018161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external series confirm that market rents and rent inflation were still rising. Montreal vacancy also moved from 1.5% in 2023 to 2.9% in 2025, which points to some easing. The Met is treated separately and, with first residential occupancy in 2022, is generally exempt from Ontario's guideline subject to occupancy records.
[Sources]
- CMHC Rental Market Survey tables: https://www.cmhc-schl.gc.ca/professionals/housing-markets-data-and-research/housing-data-statistics-sources-datasets
- Statistics Canada Table 18-10-0005-01: https://doi.org/10.25318/1810000501-eng
- Ontario residential rent increases: https://www.ontario.ca/page/residential-rent-increases
- Quebec TAL guidance: https://www.tal.gouv.qc.ca/fr/reconduction-du-bail-et-fixation-de-loyer/pourcentages-applicables-aux-criteres-de-fixation-de-loyer</a:t>
            </a:r>
            <a:endParaRPr lang="fr-CA"/>
          </a:p>
        </p:txBody>
      </p:sp>
      <p:sp>
        <p:nvSpPr>
          <p:cNvPr id="4" name="Slide Number Placeholder 3"/>
          <p:cNvSpPr>
            <a:spLocks noGrp="1"/>
          </p:cNvSpPr>
          <p:nvPr>
            <p:ph type="sldNum" sz="quarter" idx="5"/>
          </p:nvPr>
        </p:nvSpPr>
        <p:spPr/>
        <p:txBody>
          <a:bodyPr/>
          <a:lstStyle/>
          <a:p>
            <a:fld id="{36DAE5E7-7154-4F07-BF90-BD24BDC96577}" type="slidenum">
              <a:rPr lang="fr-CA" smtClean="0"/>
              <a:t>5</a:t>
            </a:fld>
            <a:endParaRPr lang="fr-CA"/>
          </a:p>
        </p:txBody>
      </p:sp>
    </p:spTree>
    <p:extLst>
      <p:ext uri="{BB962C8B-B14F-4D97-AF65-F5344CB8AC3E}">
        <p14:creationId xmlns:p14="http://schemas.microsoft.com/office/powerpoint/2010/main" val="17877174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three-year trailing mean produced a 2.46% forecast and slightly outperformed one-year persistence. The 1.09% to 3.82% range is the central estimate plus or minus the backtest MAE. It is a planning range, not a confidence interval.
[Sources]
- Forecast and backtest: rent_forecasting.ipynb</a:t>
            </a:r>
            <a:endParaRPr lang="fr-CA"/>
          </a:p>
        </p:txBody>
      </p:sp>
      <p:sp>
        <p:nvSpPr>
          <p:cNvPr id="4" name="Slide Number Placeholder 3"/>
          <p:cNvSpPr>
            <a:spLocks noGrp="1"/>
          </p:cNvSpPr>
          <p:nvPr>
            <p:ph type="sldNum" sz="quarter" idx="5"/>
          </p:nvPr>
        </p:nvSpPr>
        <p:spPr/>
        <p:txBody>
          <a:bodyPr/>
          <a:lstStyle/>
          <a:p>
            <a:fld id="{36DAE5E7-7154-4F07-BF90-BD24BDC96577}" type="slidenum">
              <a:rPr lang="fr-CA" smtClean="0"/>
              <a:t>6</a:t>
            </a:fld>
            <a:endParaRPr lang="fr-CA"/>
          </a:p>
        </p:txBody>
      </p:sp>
    </p:spTree>
    <p:extLst>
      <p:ext uri="{BB962C8B-B14F-4D97-AF65-F5344CB8AC3E}">
        <p14:creationId xmlns:p14="http://schemas.microsoft.com/office/powerpoint/2010/main" val="210889275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522FEF-235C-A82D-5A96-A7FDC473133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CA"/>
          </a:p>
        </p:txBody>
      </p:sp>
      <p:sp>
        <p:nvSpPr>
          <p:cNvPr id="3" name="Subtitle 2">
            <a:extLst>
              <a:ext uri="{FF2B5EF4-FFF2-40B4-BE49-F238E27FC236}">
                <a16:creationId xmlns:a16="http://schemas.microsoft.com/office/drawing/2014/main" id="{BA0075FB-D97A-2B57-9FAA-A2487E109CD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CA"/>
          </a:p>
        </p:txBody>
      </p:sp>
      <p:sp>
        <p:nvSpPr>
          <p:cNvPr id="4" name="Date Placeholder 3">
            <a:extLst>
              <a:ext uri="{FF2B5EF4-FFF2-40B4-BE49-F238E27FC236}">
                <a16:creationId xmlns:a16="http://schemas.microsoft.com/office/drawing/2014/main" id="{D11154E1-520F-DAF8-0CE8-B2ADFC7A84CE}"/>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5" name="Footer Placeholder 4">
            <a:extLst>
              <a:ext uri="{FF2B5EF4-FFF2-40B4-BE49-F238E27FC236}">
                <a16:creationId xmlns:a16="http://schemas.microsoft.com/office/drawing/2014/main" id="{D261745A-A4F1-5800-8867-FA2DB7720229}"/>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20AB154F-62BF-D70C-B340-0E9B46310D14}"/>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2855819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B7A7A-C47B-866B-0C7F-F8A763D0A7E2}"/>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17429261-958D-C5B8-E387-8807572AEE3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9A083009-7CA5-2EE5-9FB7-342E1FB4AFEF}"/>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5" name="Footer Placeholder 4">
            <a:extLst>
              <a:ext uri="{FF2B5EF4-FFF2-40B4-BE49-F238E27FC236}">
                <a16:creationId xmlns:a16="http://schemas.microsoft.com/office/drawing/2014/main" id="{C9F86935-77CF-2D05-8CD1-6D2CD40625B1}"/>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7F4DCCA0-0820-81C6-C047-D7FCF600E191}"/>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1727794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277862-67CD-30A7-F7A8-E3C67E9D33D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CA"/>
          </a:p>
        </p:txBody>
      </p:sp>
      <p:sp>
        <p:nvSpPr>
          <p:cNvPr id="3" name="Text Placeholder 2">
            <a:extLst>
              <a:ext uri="{FF2B5EF4-FFF2-40B4-BE49-F238E27FC236}">
                <a16:creationId xmlns:a16="http://schemas.microsoft.com/office/drawing/2014/main" id="{CD37515A-B8FF-F834-B288-264CAB5757F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95ECEEA-54A5-3603-E88E-FF431FC87CF2}"/>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5" name="Footer Placeholder 4">
            <a:extLst>
              <a:ext uri="{FF2B5EF4-FFF2-40B4-BE49-F238E27FC236}">
                <a16:creationId xmlns:a16="http://schemas.microsoft.com/office/drawing/2014/main" id="{B68FEB8E-6699-7F9F-F9E2-8F4AB03538E0}"/>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25710AC3-3E97-997D-26DE-DF13326A826D}"/>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8343539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61802B-548B-EE7B-1C90-46468C3C7EF7}"/>
              </a:ext>
            </a:extLst>
          </p:cNvPr>
          <p:cNvSpPr>
            <a:spLocks noGrp="1"/>
          </p:cNvSpPr>
          <p:nvPr>
            <p:ph type="title"/>
          </p:nvPr>
        </p:nvSpPr>
        <p:spPr/>
        <p:txBody>
          <a:bodyPr/>
          <a:lstStyle/>
          <a:p>
            <a:r>
              <a:rPr lang="en-US"/>
              <a:t>Click to edit Master title style</a:t>
            </a:r>
            <a:endParaRPr lang="fr-CA"/>
          </a:p>
        </p:txBody>
      </p:sp>
      <p:sp>
        <p:nvSpPr>
          <p:cNvPr id="3" name="Content Placeholder 2">
            <a:extLst>
              <a:ext uri="{FF2B5EF4-FFF2-40B4-BE49-F238E27FC236}">
                <a16:creationId xmlns:a16="http://schemas.microsoft.com/office/drawing/2014/main" id="{9E290980-4D74-D6DD-5162-F7E657C0CAE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Content Placeholder 3">
            <a:extLst>
              <a:ext uri="{FF2B5EF4-FFF2-40B4-BE49-F238E27FC236}">
                <a16:creationId xmlns:a16="http://schemas.microsoft.com/office/drawing/2014/main" id="{D0FAC77B-41C6-25BD-C14B-1A0EF7E898A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Date Placeholder 4">
            <a:extLst>
              <a:ext uri="{FF2B5EF4-FFF2-40B4-BE49-F238E27FC236}">
                <a16:creationId xmlns:a16="http://schemas.microsoft.com/office/drawing/2014/main" id="{E738B466-C8AB-EF24-79FC-C543A675F508}"/>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6" name="Footer Placeholder 5">
            <a:extLst>
              <a:ext uri="{FF2B5EF4-FFF2-40B4-BE49-F238E27FC236}">
                <a16:creationId xmlns:a16="http://schemas.microsoft.com/office/drawing/2014/main" id="{ABF3AB6E-8568-53A7-31DB-204E263C4101}"/>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5DAD3571-6AB6-10E8-A603-2645593BCC6C}"/>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31908886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9F25BA-E8EB-EDFD-8186-0B44D6F6E1F3}"/>
              </a:ext>
            </a:extLst>
          </p:cNvPr>
          <p:cNvSpPr>
            <a:spLocks noGrp="1"/>
          </p:cNvSpPr>
          <p:nvPr>
            <p:ph type="title"/>
          </p:nvPr>
        </p:nvSpPr>
        <p:spPr>
          <a:xfrm>
            <a:off x="839788" y="365125"/>
            <a:ext cx="10515600" cy="1325563"/>
          </a:xfrm>
        </p:spPr>
        <p:txBody>
          <a:bodyPr/>
          <a:lstStyle/>
          <a:p>
            <a:r>
              <a:rPr lang="en-US"/>
              <a:t>Click to edit Master title style</a:t>
            </a:r>
            <a:endParaRPr lang="fr-CA"/>
          </a:p>
        </p:txBody>
      </p:sp>
      <p:sp>
        <p:nvSpPr>
          <p:cNvPr id="3" name="Text Placeholder 2">
            <a:extLst>
              <a:ext uri="{FF2B5EF4-FFF2-40B4-BE49-F238E27FC236}">
                <a16:creationId xmlns:a16="http://schemas.microsoft.com/office/drawing/2014/main" id="{798100F2-EBD7-3AC3-74CC-16F552C69D2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70A1AC7-49FA-4CEC-D875-D02D7F0D8B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5" name="Text Placeholder 4">
            <a:extLst>
              <a:ext uri="{FF2B5EF4-FFF2-40B4-BE49-F238E27FC236}">
                <a16:creationId xmlns:a16="http://schemas.microsoft.com/office/drawing/2014/main" id="{D0366C83-443E-146B-7C8E-57D209711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33673B0-CB83-1B6D-0564-BFB59CC8228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7" name="Date Placeholder 6">
            <a:extLst>
              <a:ext uri="{FF2B5EF4-FFF2-40B4-BE49-F238E27FC236}">
                <a16:creationId xmlns:a16="http://schemas.microsoft.com/office/drawing/2014/main" id="{F59750A0-28F5-D393-DA1C-CAEBAB0748DC}"/>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8" name="Footer Placeholder 7">
            <a:extLst>
              <a:ext uri="{FF2B5EF4-FFF2-40B4-BE49-F238E27FC236}">
                <a16:creationId xmlns:a16="http://schemas.microsoft.com/office/drawing/2014/main" id="{38641B11-B269-6C93-A6FA-DCDF84C03DED}"/>
              </a:ext>
            </a:extLst>
          </p:cNvPr>
          <p:cNvSpPr>
            <a:spLocks noGrp="1"/>
          </p:cNvSpPr>
          <p:nvPr>
            <p:ph type="ftr" sz="quarter" idx="11"/>
          </p:nvPr>
        </p:nvSpPr>
        <p:spPr/>
        <p:txBody>
          <a:bodyPr/>
          <a:lstStyle/>
          <a:p>
            <a:endParaRPr lang="fr-CA"/>
          </a:p>
        </p:txBody>
      </p:sp>
      <p:sp>
        <p:nvSpPr>
          <p:cNvPr id="9" name="Slide Number Placeholder 8">
            <a:extLst>
              <a:ext uri="{FF2B5EF4-FFF2-40B4-BE49-F238E27FC236}">
                <a16:creationId xmlns:a16="http://schemas.microsoft.com/office/drawing/2014/main" id="{8DDE4690-6A05-CCE2-72F8-A6BD00BB2C01}"/>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29396389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277D6D-6443-9EA8-7598-3F86DC3790CE}"/>
              </a:ext>
            </a:extLst>
          </p:cNvPr>
          <p:cNvSpPr>
            <a:spLocks noGrp="1"/>
          </p:cNvSpPr>
          <p:nvPr>
            <p:ph type="title"/>
          </p:nvPr>
        </p:nvSpPr>
        <p:spPr/>
        <p:txBody>
          <a:bodyPr/>
          <a:lstStyle/>
          <a:p>
            <a:r>
              <a:rPr lang="en-US"/>
              <a:t>Click to edit Master title style</a:t>
            </a:r>
            <a:endParaRPr lang="fr-CA"/>
          </a:p>
        </p:txBody>
      </p:sp>
      <p:sp>
        <p:nvSpPr>
          <p:cNvPr id="3" name="Date Placeholder 2">
            <a:extLst>
              <a:ext uri="{FF2B5EF4-FFF2-40B4-BE49-F238E27FC236}">
                <a16:creationId xmlns:a16="http://schemas.microsoft.com/office/drawing/2014/main" id="{D6CF1A82-E2C6-F9A1-CB6D-792FB858F6B8}"/>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4" name="Footer Placeholder 3">
            <a:extLst>
              <a:ext uri="{FF2B5EF4-FFF2-40B4-BE49-F238E27FC236}">
                <a16:creationId xmlns:a16="http://schemas.microsoft.com/office/drawing/2014/main" id="{FE9E1B06-017C-B767-D968-B8BCD0D1F1C8}"/>
              </a:ext>
            </a:extLst>
          </p:cNvPr>
          <p:cNvSpPr>
            <a:spLocks noGrp="1"/>
          </p:cNvSpPr>
          <p:nvPr>
            <p:ph type="ftr" sz="quarter" idx="11"/>
          </p:nvPr>
        </p:nvSpPr>
        <p:spPr/>
        <p:txBody>
          <a:bodyPr/>
          <a:lstStyle/>
          <a:p>
            <a:endParaRPr lang="fr-CA"/>
          </a:p>
        </p:txBody>
      </p:sp>
      <p:sp>
        <p:nvSpPr>
          <p:cNvPr id="5" name="Slide Number Placeholder 4">
            <a:extLst>
              <a:ext uri="{FF2B5EF4-FFF2-40B4-BE49-F238E27FC236}">
                <a16:creationId xmlns:a16="http://schemas.microsoft.com/office/drawing/2014/main" id="{C31CC5E8-1080-1CC6-27E1-870841086F3E}"/>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39883244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3A0F339-F9C4-7914-33B1-E76C7A84903C}"/>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3" name="Footer Placeholder 2">
            <a:extLst>
              <a:ext uri="{FF2B5EF4-FFF2-40B4-BE49-F238E27FC236}">
                <a16:creationId xmlns:a16="http://schemas.microsoft.com/office/drawing/2014/main" id="{C5865CCF-DF82-5E0D-A32B-01ECBFA2D401}"/>
              </a:ext>
            </a:extLst>
          </p:cNvPr>
          <p:cNvSpPr>
            <a:spLocks noGrp="1"/>
          </p:cNvSpPr>
          <p:nvPr>
            <p:ph type="ftr" sz="quarter" idx="11"/>
          </p:nvPr>
        </p:nvSpPr>
        <p:spPr/>
        <p:txBody>
          <a:bodyPr/>
          <a:lstStyle/>
          <a:p>
            <a:endParaRPr lang="fr-CA"/>
          </a:p>
        </p:txBody>
      </p:sp>
      <p:sp>
        <p:nvSpPr>
          <p:cNvPr id="4" name="Slide Number Placeholder 3">
            <a:extLst>
              <a:ext uri="{FF2B5EF4-FFF2-40B4-BE49-F238E27FC236}">
                <a16:creationId xmlns:a16="http://schemas.microsoft.com/office/drawing/2014/main" id="{5C010168-8C36-1E34-409B-CC4D9A27C9E6}"/>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16385747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FB83F-BC26-C020-DEB9-2D1CF6492D4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Content Placeholder 2">
            <a:extLst>
              <a:ext uri="{FF2B5EF4-FFF2-40B4-BE49-F238E27FC236}">
                <a16:creationId xmlns:a16="http://schemas.microsoft.com/office/drawing/2014/main" id="{BB1C9EA1-9486-DDA2-ECBD-969624AF3EF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Text Placeholder 3">
            <a:extLst>
              <a:ext uri="{FF2B5EF4-FFF2-40B4-BE49-F238E27FC236}">
                <a16:creationId xmlns:a16="http://schemas.microsoft.com/office/drawing/2014/main" id="{4685FCEB-E5CC-E53A-07E4-DCB45523325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DE1C1E0-3C19-EA2F-DC9B-10E3E97CB2DE}"/>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6" name="Footer Placeholder 5">
            <a:extLst>
              <a:ext uri="{FF2B5EF4-FFF2-40B4-BE49-F238E27FC236}">
                <a16:creationId xmlns:a16="http://schemas.microsoft.com/office/drawing/2014/main" id="{A957752B-F6CB-CBA9-3490-441CCC12D840}"/>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EAAB92E9-6BAF-8A8B-4F84-36136BE49891}"/>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41131527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B0F9FA-02FD-2A90-0661-897BFD2076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CA"/>
          </a:p>
        </p:txBody>
      </p:sp>
      <p:sp>
        <p:nvSpPr>
          <p:cNvPr id="3" name="Picture Placeholder 2">
            <a:extLst>
              <a:ext uri="{FF2B5EF4-FFF2-40B4-BE49-F238E27FC236}">
                <a16:creationId xmlns:a16="http://schemas.microsoft.com/office/drawing/2014/main" id="{4B5D6528-9E3F-F101-B465-03538C931D3B}"/>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CA"/>
          </a:p>
        </p:txBody>
      </p:sp>
      <p:sp>
        <p:nvSpPr>
          <p:cNvPr id="4" name="Text Placeholder 3">
            <a:extLst>
              <a:ext uri="{FF2B5EF4-FFF2-40B4-BE49-F238E27FC236}">
                <a16:creationId xmlns:a16="http://schemas.microsoft.com/office/drawing/2014/main" id="{192487AC-8E9C-D6CF-EF8D-2CA2A888CC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F93A53-E29F-D3B8-2E7D-EA92165040C2}"/>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6" name="Footer Placeholder 5">
            <a:extLst>
              <a:ext uri="{FF2B5EF4-FFF2-40B4-BE49-F238E27FC236}">
                <a16:creationId xmlns:a16="http://schemas.microsoft.com/office/drawing/2014/main" id="{C7C797DC-2B4A-8906-3DF9-E202F03CF6FF}"/>
              </a:ext>
            </a:extLst>
          </p:cNvPr>
          <p:cNvSpPr>
            <a:spLocks noGrp="1"/>
          </p:cNvSpPr>
          <p:nvPr>
            <p:ph type="ftr" sz="quarter" idx="11"/>
          </p:nvPr>
        </p:nvSpPr>
        <p:spPr/>
        <p:txBody>
          <a:bodyPr/>
          <a:lstStyle/>
          <a:p>
            <a:endParaRPr lang="fr-CA"/>
          </a:p>
        </p:txBody>
      </p:sp>
      <p:sp>
        <p:nvSpPr>
          <p:cNvPr id="7" name="Slide Number Placeholder 6">
            <a:extLst>
              <a:ext uri="{FF2B5EF4-FFF2-40B4-BE49-F238E27FC236}">
                <a16:creationId xmlns:a16="http://schemas.microsoft.com/office/drawing/2014/main" id="{778F0CF6-AEAE-6B59-A9BA-EE758E0F7C9E}"/>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245302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DE101-ED70-38AD-316B-BA700D4DA9FD}"/>
              </a:ext>
            </a:extLst>
          </p:cNvPr>
          <p:cNvSpPr>
            <a:spLocks noGrp="1"/>
          </p:cNvSpPr>
          <p:nvPr>
            <p:ph type="title"/>
          </p:nvPr>
        </p:nvSpPr>
        <p:spPr/>
        <p:txBody>
          <a:bodyPr/>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E8E23C60-B270-E880-EB95-734E89AB73F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1936B3AE-80F7-177B-B213-2A9859F5BE71}"/>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5" name="Footer Placeholder 4">
            <a:extLst>
              <a:ext uri="{FF2B5EF4-FFF2-40B4-BE49-F238E27FC236}">
                <a16:creationId xmlns:a16="http://schemas.microsoft.com/office/drawing/2014/main" id="{50DE4D89-6AF1-9A7A-8326-DB42F7C0164E}"/>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5871C8E3-4011-76DB-D5FF-17168397074A}"/>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34771141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F543E9-6F34-870B-63E5-87DC38FDD6E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CA"/>
          </a:p>
        </p:txBody>
      </p:sp>
      <p:sp>
        <p:nvSpPr>
          <p:cNvPr id="3" name="Vertical Text Placeholder 2">
            <a:extLst>
              <a:ext uri="{FF2B5EF4-FFF2-40B4-BE49-F238E27FC236}">
                <a16:creationId xmlns:a16="http://schemas.microsoft.com/office/drawing/2014/main" id="{C8C7AF80-BDE4-D994-41D8-3C60BFF1C6F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0BB4F2D1-61C1-DF92-1BE4-E1CD72CB1F91}"/>
              </a:ext>
            </a:extLst>
          </p:cNvPr>
          <p:cNvSpPr>
            <a:spLocks noGrp="1"/>
          </p:cNvSpPr>
          <p:nvPr>
            <p:ph type="dt" sz="half" idx="10"/>
          </p:nvPr>
        </p:nvSpPr>
        <p:spPr/>
        <p:txBody>
          <a:bodyPr/>
          <a:lstStyle/>
          <a:p>
            <a:fld id="{67190033-2F3D-4D35-BAB2-033E00903AF8}" type="datetimeFigureOut">
              <a:rPr lang="fr-CA" smtClean="0"/>
              <a:t>2026-10-04</a:t>
            </a:fld>
            <a:endParaRPr lang="fr-CA"/>
          </a:p>
        </p:txBody>
      </p:sp>
      <p:sp>
        <p:nvSpPr>
          <p:cNvPr id="5" name="Footer Placeholder 4">
            <a:extLst>
              <a:ext uri="{FF2B5EF4-FFF2-40B4-BE49-F238E27FC236}">
                <a16:creationId xmlns:a16="http://schemas.microsoft.com/office/drawing/2014/main" id="{1130A238-1057-994D-E914-F3612FE53F26}"/>
              </a:ext>
            </a:extLst>
          </p:cNvPr>
          <p:cNvSpPr>
            <a:spLocks noGrp="1"/>
          </p:cNvSpPr>
          <p:nvPr>
            <p:ph type="ftr" sz="quarter" idx="11"/>
          </p:nvPr>
        </p:nvSpPr>
        <p:spPr/>
        <p:txBody>
          <a:bodyPr/>
          <a:lstStyle/>
          <a:p>
            <a:endParaRPr lang="fr-CA"/>
          </a:p>
        </p:txBody>
      </p:sp>
      <p:sp>
        <p:nvSpPr>
          <p:cNvPr id="6" name="Slide Number Placeholder 5">
            <a:extLst>
              <a:ext uri="{FF2B5EF4-FFF2-40B4-BE49-F238E27FC236}">
                <a16:creationId xmlns:a16="http://schemas.microsoft.com/office/drawing/2014/main" id="{4BFE544A-3E80-338A-5F25-190BD70DD7FB}"/>
              </a:ext>
            </a:extLst>
          </p:cNvPr>
          <p:cNvSpPr>
            <a:spLocks noGrp="1"/>
          </p:cNvSpPr>
          <p:nvPr>
            <p:ph type="sldNum" sz="quarter" idx="12"/>
          </p:nvPr>
        </p:nvSpPr>
        <p:spPr/>
        <p:txBody>
          <a:bodyPr/>
          <a:lstStyle/>
          <a:p>
            <a:fld id="{98CF6C54-7381-4F9B-8B8C-BE1C669C65DF}" type="slidenum">
              <a:rPr lang="fr-CA" smtClean="0"/>
              <a:t>‹#›</a:t>
            </a:fld>
            <a:endParaRPr lang="fr-CA"/>
          </a:p>
        </p:txBody>
      </p:sp>
    </p:spTree>
    <p:extLst>
      <p:ext uri="{BB962C8B-B14F-4D97-AF65-F5344CB8AC3E}">
        <p14:creationId xmlns:p14="http://schemas.microsoft.com/office/powerpoint/2010/main" val="7259460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51FB008-C67D-F174-CFF2-922C58AB9E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CA"/>
          </a:p>
        </p:txBody>
      </p:sp>
      <p:sp>
        <p:nvSpPr>
          <p:cNvPr id="3" name="Text Placeholder 2">
            <a:extLst>
              <a:ext uri="{FF2B5EF4-FFF2-40B4-BE49-F238E27FC236}">
                <a16:creationId xmlns:a16="http://schemas.microsoft.com/office/drawing/2014/main" id="{F4EEAC51-ED7C-28DF-1046-EC4C37392F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CA"/>
          </a:p>
        </p:txBody>
      </p:sp>
      <p:sp>
        <p:nvSpPr>
          <p:cNvPr id="4" name="Date Placeholder 3">
            <a:extLst>
              <a:ext uri="{FF2B5EF4-FFF2-40B4-BE49-F238E27FC236}">
                <a16:creationId xmlns:a16="http://schemas.microsoft.com/office/drawing/2014/main" id="{702B9308-4397-4205-2508-2932ADB641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190033-2F3D-4D35-BAB2-033E00903AF8}" type="datetimeFigureOut">
              <a:rPr lang="fr-CA" smtClean="0"/>
              <a:t>2026-10-04</a:t>
            </a:fld>
            <a:endParaRPr lang="fr-CA"/>
          </a:p>
        </p:txBody>
      </p:sp>
      <p:sp>
        <p:nvSpPr>
          <p:cNvPr id="5" name="Footer Placeholder 4">
            <a:extLst>
              <a:ext uri="{FF2B5EF4-FFF2-40B4-BE49-F238E27FC236}">
                <a16:creationId xmlns:a16="http://schemas.microsoft.com/office/drawing/2014/main" id="{86404D4A-6E02-7F78-F75F-D9E6F7912D0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CA"/>
          </a:p>
        </p:txBody>
      </p:sp>
      <p:sp>
        <p:nvSpPr>
          <p:cNvPr id="6" name="Slide Number Placeholder 5">
            <a:extLst>
              <a:ext uri="{FF2B5EF4-FFF2-40B4-BE49-F238E27FC236}">
                <a16:creationId xmlns:a16="http://schemas.microsoft.com/office/drawing/2014/main" id="{382D0A3F-0F22-FDC3-740F-F85A2F774C2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CF6C54-7381-4F9B-8B8C-BE1C669C65DF}" type="slidenum">
              <a:rPr lang="fr-CA" smtClean="0"/>
              <a:t>‹#›</a:t>
            </a:fld>
            <a:endParaRPr lang="fr-CA"/>
          </a:p>
        </p:txBody>
      </p:sp>
    </p:spTree>
    <p:extLst>
      <p:ext uri="{BB962C8B-B14F-4D97-AF65-F5344CB8AC3E}">
        <p14:creationId xmlns:p14="http://schemas.microsoft.com/office/powerpoint/2010/main" val="487805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A0137D2-9758-D2F3-B341-DAA256707E3D}"/>
              </a:ext>
            </a:extLst>
          </p:cNvPr>
          <p:cNvSpPr/>
          <p:nvPr/>
        </p:nvSpPr>
        <p:spPr>
          <a:xfrm>
            <a:off x="381000" y="406400"/>
            <a:ext cx="101600" cy="5969000"/>
          </a:xfrm>
          <a:prstGeom prst="rect">
            <a:avLst/>
          </a:prstGeom>
          <a:solidFill>
            <a:srgbClr val="3D8D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3" name="TextBox 2">
            <a:extLst>
              <a:ext uri="{FF2B5EF4-FFF2-40B4-BE49-F238E27FC236}">
                <a16:creationId xmlns:a16="http://schemas.microsoft.com/office/drawing/2014/main" id="{C9F6D6B6-8CF0-5F98-8B2E-31E620D3ADE3}"/>
              </a:ext>
            </a:extLst>
          </p:cNvPr>
          <p:cNvSpPr txBox="1"/>
          <p:nvPr/>
        </p:nvSpPr>
        <p:spPr>
          <a:xfrm>
            <a:off x="736600" y="457200"/>
            <a:ext cx="4572000" cy="276999"/>
          </a:xfrm>
          <a:prstGeom prst="rect">
            <a:avLst/>
          </a:prstGeom>
          <a:noFill/>
        </p:spPr>
        <p:txBody>
          <a:bodyPr vert="horz" lIns="0" tIns="0" rIns="0" bIns="0" rtlCol="0" anchor="t">
            <a:spAutoFit/>
          </a:bodyPr>
          <a:lstStyle/>
          <a:p>
            <a:r>
              <a:rPr lang="fr-CA" b="1" dirty="0">
                <a:solidFill>
                  <a:srgbClr val="3D8DFF"/>
                </a:solidFill>
                <a:latin typeface="Arial" panose="020B0604020202020204" pitchFamily="34" charset="0"/>
              </a:rPr>
              <a:t>CODEML 2026 | JADCO | </a:t>
            </a:r>
            <a:r>
              <a:rPr lang="fr-CA" b="1" dirty="0" err="1">
                <a:solidFill>
                  <a:srgbClr val="3D8DFF"/>
                </a:solidFill>
                <a:latin typeface="Arial" panose="020B0604020202020204" pitchFamily="34" charset="0"/>
              </a:rPr>
              <a:t>serafii</a:t>
            </a:r>
            <a:endParaRPr lang="fr-CA" b="1" dirty="0">
              <a:solidFill>
                <a:srgbClr val="3D8DFF"/>
              </a:solidFill>
              <a:latin typeface="Arial" panose="020B0604020202020204" pitchFamily="34" charset="0"/>
            </a:endParaRPr>
          </a:p>
        </p:txBody>
      </p:sp>
      <p:sp>
        <p:nvSpPr>
          <p:cNvPr id="4" name="TextBox 3">
            <a:extLst>
              <a:ext uri="{FF2B5EF4-FFF2-40B4-BE49-F238E27FC236}">
                <a16:creationId xmlns:a16="http://schemas.microsoft.com/office/drawing/2014/main" id="{703213F5-C08D-2711-4DBD-381DB130A083}"/>
              </a:ext>
            </a:extLst>
          </p:cNvPr>
          <p:cNvSpPr txBox="1"/>
          <p:nvPr/>
        </p:nvSpPr>
        <p:spPr>
          <a:xfrm>
            <a:off x="736600" y="1841500"/>
            <a:ext cx="9652000" cy="1661993"/>
          </a:xfrm>
          <a:prstGeom prst="rect">
            <a:avLst/>
          </a:prstGeom>
          <a:noFill/>
        </p:spPr>
        <p:txBody>
          <a:bodyPr vert="horz" lIns="0" tIns="0" rIns="0" bIns="0" rtlCol="0" anchor="t">
            <a:spAutoFit/>
          </a:bodyPr>
          <a:lstStyle/>
          <a:p>
            <a:r>
              <a:rPr lang="en-US" sz="5400" b="1" dirty="0">
                <a:solidFill>
                  <a:srgbClr val="000000"/>
                </a:solidFill>
                <a:latin typeface="Arial" panose="020B0604020202020204" pitchFamily="34" charset="0"/>
              </a:rPr>
              <a:t>Collection </a:t>
            </a:r>
            <a:r>
              <a:rPr lang="en-CA" sz="5400" b="1" dirty="0" err="1">
                <a:solidFill>
                  <a:srgbClr val="000000"/>
                </a:solidFill>
                <a:latin typeface="Arial" panose="020B0604020202020204" pitchFamily="34" charset="0"/>
              </a:rPr>
              <a:t>Équinoxe</a:t>
            </a:r>
            <a:r>
              <a:rPr lang="en-CA" sz="5400" b="1" dirty="0">
                <a:solidFill>
                  <a:srgbClr val="000000"/>
                </a:solidFill>
                <a:latin typeface="Arial" panose="020B0604020202020204" pitchFamily="34" charset="0"/>
              </a:rPr>
              <a:t>:</a:t>
            </a:r>
            <a:r>
              <a:rPr lang="en-US" sz="5400" b="1" dirty="0">
                <a:solidFill>
                  <a:srgbClr val="000000"/>
                </a:solidFill>
                <a:latin typeface="Arial" panose="020B0604020202020204" pitchFamily="34" charset="0"/>
              </a:rPr>
              <a:t>
2026 rent forecast</a:t>
            </a:r>
            <a:endParaRPr lang="fr-CA" sz="5400" b="1" dirty="0">
              <a:solidFill>
                <a:srgbClr val="000000"/>
              </a:solidFill>
              <a:latin typeface="Arial" panose="020B0604020202020204" pitchFamily="34" charset="0"/>
            </a:endParaRPr>
          </a:p>
        </p:txBody>
      </p:sp>
      <p:sp>
        <p:nvSpPr>
          <p:cNvPr id="5" name="TextBox 4">
            <a:extLst>
              <a:ext uri="{FF2B5EF4-FFF2-40B4-BE49-F238E27FC236}">
                <a16:creationId xmlns:a16="http://schemas.microsoft.com/office/drawing/2014/main" id="{189215FB-2E09-F638-3EC9-484552285A0E}"/>
              </a:ext>
            </a:extLst>
          </p:cNvPr>
          <p:cNvSpPr txBox="1"/>
          <p:nvPr/>
        </p:nvSpPr>
        <p:spPr>
          <a:xfrm>
            <a:off x="736600" y="4610794"/>
            <a:ext cx="8255000" cy="400110"/>
          </a:xfrm>
          <a:prstGeom prst="rect">
            <a:avLst/>
          </a:prstGeom>
          <a:noFill/>
        </p:spPr>
        <p:txBody>
          <a:bodyPr vert="horz" lIns="0" tIns="0" rIns="0" bIns="0" rtlCol="0" anchor="t">
            <a:spAutoFit/>
          </a:bodyPr>
          <a:lstStyle/>
          <a:p>
            <a:r>
              <a:rPr lang="fr-CA" sz="2600" dirty="0">
                <a:solidFill>
                  <a:srgbClr val="000000"/>
                </a:solidFill>
                <a:latin typeface="Arial" panose="020B0604020202020204" pitchFamily="34" charset="0"/>
              </a:rPr>
              <a:t>Final </a:t>
            </a:r>
            <a:r>
              <a:rPr lang="fr-CA" sz="2600" dirty="0" err="1">
                <a:solidFill>
                  <a:srgbClr val="000000"/>
                </a:solidFill>
                <a:latin typeface="Arial" panose="020B0604020202020204" pitchFamily="34" charset="0"/>
              </a:rPr>
              <a:t>estimate</a:t>
            </a:r>
            <a:r>
              <a:rPr lang="fr-CA" sz="2600" dirty="0">
                <a:solidFill>
                  <a:srgbClr val="000000"/>
                </a:solidFill>
                <a:latin typeface="Arial" panose="020B0604020202020204" pitchFamily="34" charset="0"/>
              </a:rPr>
              <a:t>: 2.46%</a:t>
            </a:r>
          </a:p>
        </p:txBody>
      </p:sp>
      <p:sp>
        <p:nvSpPr>
          <p:cNvPr id="6" name="TextBox 5">
            <a:extLst>
              <a:ext uri="{FF2B5EF4-FFF2-40B4-BE49-F238E27FC236}">
                <a16:creationId xmlns:a16="http://schemas.microsoft.com/office/drawing/2014/main" id="{8AC094E6-3061-96F4-C1DB-91719EC6632C}"/>
              </a:ext>
            </a:extLst>
          </p:cNvPr>
          <p:cNvSpPr txBox="1"/>
          <p:nvPr/>
        </p:nvSpPr>
        <p:spPr>
          <a:xfrm>
            <a:off x="736600" y="5168900"/>
            <a:ext cx="8890000" cy="292388"/>
          </a:xfrm>
          <a:prstGeom prst="rect">
            <a:avLst/>
          </a:prstGeom>
          <a:noFill/>
        </p:spPr>
        <p:txBody>
          <a:bodyPr vert="horz" lIns="0" tIns="0" rIns="0" bIns="0" rtlCol="0" anchor="t">
            <a:spAutoFit/>
          </a:bodyPr>
          <a:lstStyle/>
          <a:p>
            <a:r>
              <a:rPr lang="en-US" sz="1900" dirty="0">
                <a:solidFill>
                  <a:srgbClr val="4C525B"/>
                </a:solidFill>
                <a:latin typeface="Arial" panose="020B0604020202020204" pitchFamily="34" charset="0"/>
              </a:rPr>
              <a:t>Same-unit effective-rent growth</a:t>
            </a:r>
            <a:endParaRPr lang="fr-CA" sz="1900" dirty="0">
              <a:solidFill>
                <a:srgbClr val="4C525B"/>
              </a:solidFill>
              <a:latin typeface="Arial" panose="020B0604020202020204" pitchFamily="34" charset="0"/>
            </a:endParaRPr>
          </a:p>
        </p:txBody>
      </p:sp>
    </p:spTree>
    <p:extLst>
      <p:ext uri="{BB962C8B-B14F-4D97-AF65-F5344CB8AC3E}">
        <p14:creationId xmlns:p14="http://schemas.microsoft.com/office/powerpoint/2010/main" val="21679147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79E521D-D6B2-EC52-9FD9-52F7680F533A}"/>
              </a:ext>
            </a:extLst>
          </p:cNvPr>
          <p:cNvSpPr txBox="1"/>
          <p:nvPr/>
        </p:nvSpPr>
        <p:spPr>
          <a:xfrm>
            <a:off x="381000" y="330200"/>
            <a:ext cx="11303000" cy="553998"/>
          </a:xfrm>
          <a:prstGeom prst="rect">
            <a:avLst/>
          </a:prstGeom>
          <a:noFill/>
        </p:spPr>
        <p:txBody>
          <a:bodyPr vert="horz" lIns="0" tIns="0" rIns="0" bIns="0" rtlCol="0" anchor="t">
            <a:spAutoFit/>
          </a:bodyPr>
          <a:lstStyle/>
          <a:p>
            <a:r>
              <a:rPr lang="en-US" sz="3600" b="1">
                <a:solidFill>
                  <a:srgbClr val="000000"/>
                </a:solidFill>
                <a:latin typeface="Arial" panose="020B0604020202020204" pitchFamily="34" charset="0"/>
              </a:rPr>
              <a:t>Unit-mix changes make yearly medians misleading</a:t>
            </a:r>
            <a:endParaRPr lang="fr-CA" sz="3600" b="1">
              <a:solidFill>
                <a:srgbClr val="000000"/>
              </a:solidFill>
              <a:latin typeface="Arial" panose="020B0604020202020204" pitchFamily="34" charset="0"/>
            </a:endParaRPr>
          </a:p>
        </p:txBody>
      </p:sp>
      <p:pic>
        <p:nvPicPr>
          <p:cNvPr id="4" name="Picture 3">
            <a:extLst>
              <a:ext uri="{FF2B5EF4-FFF2-40B4-BE49-F238E27FC236}">
                <a16:creationId xmlns:a16="http://schemas.microsoft.com/office/drawing/2014/main" id="{0F1F5127-E716-1DC4-409F-DB56C6AA939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81000" y="1422400"/>
            <a:ext cx="7620000" cy="3784600"/>
          </a:xfrm>
          <a:prstGeom prst="rect">
            <a:avLst/>
          </a:prstGeom>
        </p:spPr>
      </p:pic>
      <p:sp>
        <p:nvSpPr>
          <p:cNvPr id="5" name="Rectangle 4">
            <a:extLst>
              <a:ext uri="{FF2B5EF4-FFF2-40B4-BE49-F238E27FC236}">
                <a16:creationId xmlns:a16="http://schemas.microsoft.com/office/drawing/2014/main" id="{ADB75701-1722-2036-12C8-752E5C82A6FB}"/>
              </a:ext>
            </a:extLst>
          </p:cNvPr>
          <p:cNvSpPr/>
          <p:nvPr/>
        </p:nvSpPr>
        <p:spPr>
          <a:xfrm>
            <a:off x="8382000" y="1587500"/>
            <a:ext cx="3175000" cy="1460500"/>
          </a:xfrm>
          <a:prstGeom prst="rect">
            <a:avLst/>
          </a:prstGeom>
          <a:solidFill>
            <a:srgbClr val="EDED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6" name="TextBox 5">
            <a:extLst>
              <a:ext uri="{FF2B5EF4-FFF2-40B4-BE49-F238E27FC236}">
                <a16:creationId xmlns:a16="http://schemas.microsoft.com/office/drawing/2014/main" id="{7401F925-79AA-A638-CD40-01C14156D7DC}"/>
              </a:ext>
            </a:extLst>
          </p:cNvPr>
          <p:cNvSpPr txBox="1"/>
          <p:nvPr/>
        </p:nvSpPr>
        <p:spPr>
          <a:xfrm>
            <a:off x="8636000" y="1816100"/>
            <a:ext cx="2540000" cy="523220"/>
          </a:xfrm>
          <a:prstGeom prst="rect">
            <a:avLst/>
          </a:prstGeom>
          <a:noFill/>
        </p:spPr>
        <p:txBody>
          <a:bodyPr vert="horz" lIns="0" tIns="0" rIns="0" bIns="0" rtlCol="0" anchor="t">
            <a:spAutoFit/>
          </a:bodyPr>
          <a:lstStyle/>
          <a:p>
            <a:r>
              <a:rPr lang="fr-CA" sz="3400" b="1">
                <a:solidFill>
                  <a:srgbClr val="000000"/>
                </a:solidFill>
                <a:latin typeface="Arial" panose="020B0604020202020204" pitchFamily="34" charset="0"/>
              </a:rPr>
              <a:t>10.85%</a:t>
            </a:r>
          </a:p>
        </p:txBody>
      </p:sp>
      <p:sp>
        <p:nvSpPr>
          <p:cNvPr id="7" name="TextBox 6">
            <a:extLst>
              <a:ext uri="{FF2B5EF4-FFF2-40B4-BE49-F238E27FC236}">
                <a16:creationId xmlns:a16="http://schemas.microsoft.com/office/drawing/2014/main" id="{5923B0DF-67DD-BDB8-A39D-AB5F8DFAAC06}"/>
              </a:ext>
            </a:extLst>
          </p:cNvPr>
          <p:cNvSpPr txBox="1"/>
          <p:nvPr/>
        </p:nvSpPr>
        <p:spPr>
          <a:xfrm>
            <a:off x="8636000" y="2425700"/>
            <a:ext cx="2603500" cy="523220"/>
          </a:xfrm>
          <a:prstGeom prst="rect">
            <a:avLst/>
          </a:prstGeom>
          <a:noFill/>
        </p:spPr>
        <p:txBody>
          <a:bodyPr vert="horz" lIns="0" tIns="0" rIns="0" bIns="0" rtlCol="0" anchor="t">
            <a:spAutoFit/>
          </a:bodyPr>
          <a:lstStyle/>
          <a:p>
            <a:r>
              <a:rPr lang="fr-CA" sz="1700">
                <a:solidFill>
                  <a:srgbClr val="4C525B"/>
                </a:solidFill>
                <a:latin typeface="Arial" panose="020B0604020202020204" pitchFamily="34" charset="0"/>
              </a:rPr>
              <a:t>Naive 2023 median increase</a:t>
            </a:r>
          </a:p>
        </p:txBody>
      </p:sp>
      <p:sp>
        <p:nvSpPr>
          <p:cNvPr id="8" name="Rectangle 7">
            <a:extLst>
              <a:ext uri="{FF2B5EF4-FFF2-40B4-BE49-F238E27FC236}">
                <a16:creationId xmlns:a16="http://schemas.microsoft.com/office/drawing/2014/main" id="{ECBE9265-FB12-04CB-B2D6-A1208BC4A9CE}"/>
              </a:ext>
            </a:extLst>
          </p:cNvPr>
          <p:cNvSpPr/>
          <p:nvPr/>
        </p:nvSpPr>
        <p:spPr>
          <a:xfrm>
            <a:off x="8382000" y="3302000"/>
            <a:ext cx="3175000" cy="1460500"/>
          </a:xfrm>
          <a:prstGeom prst="rect">
            <a:avLst/>
          </a:prstGeom>
          <a:solidFill>
            <a:srgbClr val="D0EDF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9" name="TextBox 8">
            <a:extLst>
              <a:ext uri="{FF2B5EF4-FFF2-40B4-BE49-F238E27FC236}">
                <a16:creationId xmlns:a16="http://schemas.microsoft.com/office/drawing/2014/main" id="{AB3AAD59-7BD3-0E11-EC10-B370EF956AC4}"/>
              </a:ext>
            </a:extLst>
          </p:cNvPr>
          <p:cNvSpPr txBox="1"/>
          <p:nvPr/>
        </p:nvSpPr>
        <p:spPr>
          <a:xfrm>
            <a:off x="8636000" y="3530600"/>
            <a:ext cx="2540000" cy="523220"/>
          </a:xfrm>
          <a:prstGeom prst="rect">
            <a:avLst/>
          </a:prstGeom>
          <a:noFill/>
        </p:spPr>
        <p:txBody>
          <a:bodyPr vert="horz" lIns="0" tIns="0" rIns="0" bIns="0" rtlCol="0" anchor="t">
            <a:spAutoFit/>
          </a:bodyPr>
          <a:lstStyle/>
          <a:p>
            <a:r>
              <a:rPr lang="fr-CA" sz="3400" b="1">
                <a:solidFill>
                  <a:srgbClr val="000000"/>
                </a:solidFill>
                <a:latin typeface="Arial" panose="020B0604020202020204" pitchFamily="34" charset="0"/>
              </a:rPr>
              <a:t>2.29%</a:t>
            </a:r>
          </a:p>
        </p:txBody>
      </p:sp>
      <p:sp>
        <p:nvSpPr>
          <p:cNvPr id="10" name="TextBox 9">
            <a:extLst>
              <a:ext uri="{FF2B5EF4-FFF2-40B4-BE49-F238E27FC236}">
                <a16:creationId xmlns:a16="http://schemas.microsoft.com/office/drawing/2014/main" id="{F5B345C9-7EE9-3D7D-1779-2599DA642630}"/>
              </a:ext>
            </a:extLst>
          </p:cNvPr>
          <p:cNvSpPr txBox="1"/>
          <p:nvPr/>
        </p:nvSpPr>
        <p:spPr>
          <a:xfrm>
            <a:off x="8636000" y="4140200"/>
            <a:ext cx="2603500" cy="523220"/>
          </a:xfrm>
          <a:prstGeom prst="rect">
            <a:avLst/>
          </a:prstGeom>
          <a:noFill/>
        </p:spPr>
        <p:txBody>
          <a:bodyPr vert="horz" lIns="0" tIns="0" rIns="0" bIns="0" rtlCol="0" anchor="t">
            <a:spAutoFit/>
          </a:bodyPr>
          <a:lstStyle/>
          <a:p>
            <a:r>
              <a:rPr lang="fr-CA" sz="1700">
                <a:solidFill>
                  <a:srgbClr val="4C525B"/>
                </a:solidFill>
                <a:latin typeface="Arial" panose="020B0604020202020204" pitchFamily="34" charset="0"/>
              </a:rPr>
              <a:t>Same-unit contractual growth</a:t>
            </a:r>
          </a:p>
        </p:txBody>
      </p:sp>
      <p:sp>
        <p:nvSpPr>
          <p:cNvPr id="11" name="TextBox 10">
            <a:extLst>
              <a:ext uri="{FF2B5EF4-FFF2-40B4-BE49-F238E27FC236}">
                <a16:creationId xmlns:a16="http://schemas.microsoft.com/office/drawing/2014/main" id="{596ADD79-D588-8361-864B-092C77B37BB8}"/>
              </a:ext>
            </a:extLst>
          </p:cNvPr>
          <p:cNvSpPr txBox="1"/>
          <p:nvPr/>
        </p:nvSpPr>
        <p:spPr>
          <a:xfrm>
            <a:off x="381000" y="5651500"/>
            <a:ext cx="9906000" cy="338554"/>
          </a:xfrm>
          <a:prstGeom prst="rect">
            <a:avLst/>
          </a:prstGeom>
          <a:noFill/>
        </p:spPr>
        <p:txBody>
          <a:bodyPr vert="horz" lIns="0" tIns="0" rIns="0" bIns="0" rtlCol="0" anchor="t">
            <a:spAutoFit/>
          </a:bodyPr>
          <a:lstStyle/>
          <a:p>
            <a:r>
              <a:rPr lang="en-US" sz="2200" b="1">
                <a:solidFill>
                  <a:srgbClr val="000000"/>
                </a:solidFill>
                <a:latin typeface="Arial" panose="020B0604020202020204" pitchFamily="34" charset="0"/>
              </a:rPr>
              <a:t>The forecast therefore compares each apartment with itself.</a:t>
            </a:r>
            <a:endParaRPr lang="fr-CA" sz="2200" b="1">
              <a:solidFill>
                <a:srgbClr val="000000"/>
              </a:solidFill>
              <a:latin typeface="Arial" panose="020B0604020202020204" pitchFamily="34" charset="0"/>
            </a:endParaRPr>
          </a:p>
        </p:txBody>
      </p:sp>
      <p:sp>
        <p:nvSpPr>
          <p:cNvPr id="12" name="TextBox 11">
            <a:extLst>
              <a:ext uri="{FF2B5EF4-FFF2-40B4-BE49-F238E27FC236}">
                <a16:creationId xmlns:a16="http://schemas.microsoft.com/office/drawing/2014/main" id="{7203CCB5-D260-7457-9ACC-84CAFAAA726E}"/>
              </a:ext>
            </a:extLst>
          </p:cNvPr>
          <p:cNvSpPr txBox="1"/>
          <p:nvPr/>
        </p:nvSpPr>
        <p:spPr>
          <a:xfrm>
            <a:off x="11493500" y="6502400"/>
            <a:ext cx="254000" cy="138499"/>
          </a:xfrm>
          <a:prstGeom prst="rect">
            <a:avLst/>
          </a:prstGeom>
          <a:noFill/>
        </p:spPr>
        <p:txBody>
          <a:bodyPr vert="horz" lIns="0" tIns="0" rIns="0" bIns="0" rtlCol="0" anchor="t">
            <a:spAutoFit/>
          </a:bodyPr>
          <a:lstStyle/>
          <a:p>
            <a:pPr algn="r"/>
            <a:r>
              <a:rPr lang="fr-CA" sz="900">
                <a:solidFill>
                  <a:srgbClr val="4C525B"/>
                </a:solidFill>
                <a:latin typeface="Arial" panose="020B0604020202020204" pitchFamily="34" charset="0"/>
              </a:rPr>
              <a:t>2</a:t>
            </a:r>
          </a:p>
        </p:txBody>
      </p:sp>
    </p:spTree>
    <p:extLst>
      <p:ext uri="{BB962C8B-B14F-4D97-AF65-F5344CB8AC3E}">
        <p14:creationId xmlns:p14="http://schemas.microsoft.com/office/powerpoint/2010/main" val="9647883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3A17B94-AE2B-0FBD-A2B4-3FDFD3B39FF0}"/>
              </a:ext>
            </a:extLst>
          </p:cNvPr>
          <p:cNvSpPr txBox="1"/>
          <p:nvPr/>
        </p:nvSpPr>
        <p:spPr>
          <a:xfrm>
            <a:off x="444500" y="488097"/>
            <a:ext cx="11303000" cy="553998"/>
          </a:xfrm>
          <a:prstGeom prst="rect">
            <a:avLst/>
          </a:prstGeom>
          <a:noFill/>
        </p:spPr>
        <p:txBody>
          <a:bodyPr vert="horz" lIns="0" tIns="0" rIns="0" bIns="0" rtlCol="0" anchor="t">
            <a:spAutoFit/>
          </a:bodyPr>
          <a:lstStyle/>
          <a:p>
            <a:r>
              <a:rPr lang="en-US" sz="3600" b="1" dirty="0">
                <a:solidFill>
                  <a:srgbClr val="000000"/>
                </a:solidFill>
                <a:latin typeface="Arial" panose="020B0604020202020204" pitchFamily="34" charset="0"/>
              </a:rPr>
              <a:t>The forecast uses one simple rule every year</a:t>
            </a:r>
            <a:endParaRPr lang="fr-CA" sz="3600" b="1" dirty="0">
              <a:solidFill>
                <a:srgbClr val="000000"/>
              </a:solidFill>
              <a:latin typeface="Arial" panose="020B0604020202020204" pitchFamily="34" charset="0"/>
            </a:endParaRPr>
          </a:p>
        </p:txBody>
      </p:sp>
      <p:sp>
        <p:nvSpPr>
          <p:cNvPr id="3" name="TextBox 2">
            <a:extLst>
              <a:ext uri="{FF2B5EF4-FFF2-40B4-BE49-F238E27FC236}">
                <a16:creationId xmlns:a16="http://schemas.microsoft.com/office/drawing/2014/main" id="{ED82B68D-4A54-C8D2-02A3-99D411FB66A6}"/>
              </a:ext>
            </a:extLst>
          </p:cNvPr>
          <p:cNvSpPr txBox="1"/>
          <p:nvPr/>
        </p:nvSpPr>
        <p:spPr>
          <a:xfrm>
            <a:off x="508000" y="1587500"/>
            <a:ext cx="1143000" cy="584775"/>
          </a:xfrm>
          <a:prstGeom prst="rect">
            <a:avLst/>
          </a:prstGeom>
          <a:noFill/>
        </p:spPr>
        <p:txBody>
          <a:bodyPr vert="horz" lIns="0" tIns="0" rIns="0" bIns="0" rtlCol="0" anchor="t">
            <a:spAutoFit/>
          </a:bodyPr>
          <a:lstStyle/>
          <a:p>
            <a:r>
              <a:rPr lang="fr-CA" sz="3800" b="1">
                <a:solidFill>
                  <a:srgbClr val="3D8DFF"/>
                </a:solidFill>
                <a:latin typeface="Arial" panose="020B0604020202020204" pitchFamily="34" charset="0"/>
              </a:rPr>
              <a:t>01</a:t>
            </a:r>
          </a:p>
        </p:txBody>
      </p:sp>
      <p:cxnSp>
        <p:nvCxnSpPr>
          <p:cNvPr id="4" name="Straight Connector 3">
            <a:extLst>
              <a:ext uri="{FF2B5EF4-FFF2-40B4-BE49-F238E27FC236}">
                <a16:creationId xmlns:a16="http://schemas.microsoft.com/office/drawing/2014/main" id="{72B80401-AADC-C6E5-14F0-3E6680A6DC40}"/>
              </a:ext>
            </a:extLst>
          </p:cNvPr>
          <p:cNvCxnSpPr/>
          <p:nvPr/>
        </p:nvCxnSpPr>
        <p:spPr>
          <a:xfrm>
            <a:off x="508000" y="2476500"/>
            <a:ext cx="2984500" cy="0"/>
          </a:xfrm>
          <a:prstGeom prst="line">
            <a:avLst/>
          </a:prstGeom>
          <a:ln w="12700">
            <a:solidFill>
              <a:srgbClr val="B8BCC4"/>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7E7D48C6-C6F1-EF7C-1C3A-9DB35B5A606C}"/>
              </a:ext>
            </a:extLst>
          </p:cNvPr>
          <p:cNvSpPr txBox="1"/>
          <p:nvPr/>
        </p:nvSpPr>
        <p:spPr>
          <a:xfrm>
            <a:off x="508000" y="2794000"/>
            <a:ext cx="3111500" cy="369332"/>
          </a:xfrm>
          <a:prstGeom prst="rect">
            <a:avLst/>
          </a:prstGeom>
          <a:noFill/>
        </p:spPr>
        <p:txBody>
          <a:bodyPr vert="horz" lIns="0" tIns="0" rIns="0" bIns="0" rtlCol="0" anchor="t">
            <a:spAutoFit/>
          </a:bodyPr>
          <a:lstStyle/>
          <a:p>
            <a:r>
              <a:rPr lang="fr-CA" sz="2400" b="1">
                <a:solidFill>
                  <a:srgbClr val="000000"/>
                </a:solidFill>
                <a:latin typeface="Arial" panose="020B0604020202020204" pitchFamily="34" charset="0"/>
              </a:rPr>
              <a:t>Match the same unit</a:t>
            </a:r>
          </a:p>
        </p:txBody>
      </p:sp>
      <p:sp>
        <p:nvSpPr>
          <p:cNvPr id="6" name="TextBox 5">
            <a:extLst>
              <a:ext uri="{FF2B5EF4-FFF2-40B4-BE49-F238E27FC236}">
                <a16:creationId xmlns:a16="http://schemas.microsoft.com/office/drawing/2014/main" id="{D6B0C64B-8E0F-51D6-4B67-016D1951A135}"/>
              </a:ext>
            </a:extLst>
          </p:cNvPr>
          <p:cNvSpPr txBox="1"/>
          <p:nvPr/>
        </p:nvSpPr>
        <p:spPr>
          <a:xfrm>
            <a:off x="508000" y="3810000"/>
            <a:ext cx="3111500" cy="830997"/>
          </a:xfrm>
          <a:prstGeom prst="rect">
            <a:avLst/>
          </a:prstGeom>
          <a:noFill/>
        </p:spPr>
        <p:txBody>
          <a:bodyPr vert="horz" lIns="0" tIns="0" rIns="0" bIns="0" rtlCol="0" anchor="t">
            <a:spAutoFit/>
          </a:bodyPr>
          <a:lstStyle/>
          <a:p>
            <a:r>
              <a:rPr lang="en-US">
                <a:solidFill>
                  <a:srgbClr val="4C525B"/>
                </a:solidFill>
                <a:latin typeface="Arial" panose="020B0604020202020204" pitchFamily="34" charset="0"/>
              </a:rPr>
              <a:t>Use sPropCode + sUnitCode.
Keep gaps from 0.5 to 2.5 years.</a:t>
            </a:r>
            <a:endParaRPr lang="fr-CA">
              <a:solidFill>
                <a:srgbClr val="4C525B"/>
              </a:solidFill>
              <a:latin typeface="Arial" panose="020B0604020202020204" pitchFamily="34" charset="0"/>
            </a:endParaRPr>
          </a:p>
        </p:txBody>
      </p:sp>
      <p:sp>
        <p:nvSpPr>
          <p:cNvPr id="7" name="TextBox 6">
            <a:extLst>
              <a:ext uri="{FF2B5EF4-FFF2-40B4-BE49-F238E27FC236}">
                <a16:creationId xmlns:a16="http://schemas.microsoft.com/office/drawing/2014/main" id="{9E0E853A-5E49-7842-72DE-0BE2471EA245}"/>
              </a:ext>
            </a:extLst>
          </p:cNvPr>
          <p:cNvSpPr txBox="1"/>
          <p:nvPr/>
        </p:nvSpPr>
        <p:spPr>
          <a:xfrm>
            <a:off x="4318000" y="1587500"/>
            <a:ext cx="1143000" cy="584775"/>
          </a:xfrm>
          <a:prstGeom prst="rect">
            <a:avLst/>
          </a:prstGeom>
          <a:noFill/>
        </p:spPr>
        <p:txBody>
          <a:bodyPr vert="horz" lIns="0" tIns="0" rIns="0" bIns="0" rtlCol="0" anchor="t">
            <a:spAutoFit/>
          </a:bodyPr>
          <a:lstStyle/>
          <a:p>
            <a:r>
              <a:rPr lang="fr-CA" sz="3800" b="1">
                <a:solidFill>
                  <a:srgbClr val="3D8DFF"/>
                </a:solidFill>
                <a:latin typeface="Arial" panose="020B0604020202020204" pitchFamily="34" charset="0"/>
              </a:rPr>
              <a:t>02</a:t>
            </a:r>
          </a:p>
        </p:txBody>
      </p:sp>
      <p:cxnSp>
        <p:nvCxnSpPr>
          <p:cNvPr id="8" name="Straight Connector 7">
            <a:extLst>
              <a:ext uri="{FF2B5EF4-FFF2-40B4-BE49-F238E27FC236}">
                <a16:creationId xmlns:a16="http://schemas.microsoft.com/office/drawing/2014/main" id="{77B86547-D0CC-8B9C-EB5F-C5EC079419D6}"/>
              </a:ext>
            </a:extLst>
          </p:cNvPr>
          <p:cNvCxnSpPr/>
          <p:nvPr/>
        </p:nvCxnSpPr>
        <p:spPr>
          <a:xfrm>
            <a:off x="4318000" y="2476500"/>
            <a:ext cx="2984500" cy="0"/>
          </a:xfrm>
          <a:prstGeom prst="line">
            <a:avLst/>
          </a:prstGeom>
          <a:ln w="12700">
            <a:solidFill>
              <a:srgbClr val="B8BCC4"/>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910A423-8B73-63CF-412E-EDE0BC8462AF}"/>
              </a:ext>
            </a:extLst>
          </p:cNvPr>
          <p:cNvSpPr txBox="1"/>
          <p:nvPr/>
        </p:nvSpPr>
        <p:spPr>
          <a:xfrm>
            <a:off x="4318000" y="2794000"/>
            <a:ext cx="3111500" cy="738664"/>
          </a:xfrm>
          <a:prstGeom prst="rect">
            <a:avLst/>
          </a:prstGeom>
          <a:noFill/>
        </p:spPr>
        <p:txBody>
          <a:bodyPr vert="horz" lIns="0" tIns="0" rIns="0" bIns="0" rtlCol="0" anchor="t">
            <a:spAutoFit/>
          </a:bodyPr>
          <a:lstStyle/>
          <a:p>
            <a:r>
              <a:rPr lang="fr-CA" sz="2400" b="1">
                <a:solidFill>
                  <a:srgbClr val="000000"/>
                </a:solidFill>
                <a:latin typeface="Arial" panose="020B0604020202020204" pitchFamily="34" charset="0"/>
              </a:rPr>
              <a:t>Measure effective rent</a:t>
            </a:r>
          </a:p>
        </p:txBody>
      </p:sp>
      <p:sp>
        <p:nvSpPr>
          <p:cNvPr id="10" name="TextBox 9">
            <a:extLst>
              <a:ext uri="{FF2B5EF4-FFF2-40B4-BE49-F238E27FC236}">
                <a16:creationId xmlns:a16="http://schemas.microsoft.com/office/drawing/2014/main" id="{AF4CEF64-FE56-1793-6F9A-1A6D48B04F11}"/>
              </a:ext>
            </a:extLst>
          </p:cNvPr>
          <p:cNvSpPr txBox="1"/>
          <p:nvPr/>
        </p:nvSpPr>
        <p:spPr>
          <a:xfrm>
            <a:off x="4318000" y="3810000"/>
            <a:ext cx="3111500" cy="830997"/>
          </a:xfrm>
          <a:prstGeom prst="rect">
            <a:avLst/>
          </a:prstGeom>
          <a:noFill/>
        </p:spPr>
        <p:txBody>
          <a:bodyPr vert="horz" lIns="0" tIns="0" rIns="0" bIns="0" rtlCol="0" anchor="t">
            <a:spAutoFit/>
          </a:bodyPr>
          <a:lstStyle/>
          <a:p>
            <a:r>
              <a:rPr lang="en-US">
                <a:solidFill>
                  <a:srgbClr val="4C525B"/>
                </a:solidFill>
                <a:latin typeface="Arial" panose="020B0604020202020204" pitchFamily="34" charset="0"/>
              </a:rPr>
              <a:t>Include concessions.
Annualize the change between leases.</a:t>
            </a:r>
            <a:endParaRPr lang="fr-CA">
              <a:solidFill>
                <a:srgbClr val="4C525B"/>
              </a:solidFill>
              <a:latin typeface="Arial" panose="020B0604020202020204" pitchFamily="34" charset="0"/>
            </a:endParaRPr>
          </a:p>
        </p:txBody>
      </p:sp>
      <p:sp>
        <p:nvSpPr>
          <p:cNvPr id="11" name="TextBox 10">
            <a:extLst>
              <a:ext uri="{FF2B5EF4-FFF2-40B4-BE49-F238E27FC236}">
                <a16:creationId xmlns:a16="http://schemas.microsoft.com/office/drawing/2014/main" id="{D889DCDF-DBE5-533E-551E-FDA9A91FC0DB}"/>
              </a:ext>
            </a:extLst>
          </p:cNvPr>
          <p:cNvSpPr txBox="1"/>
          <p:nvPr/>
        </p:nvSpPr>
        <p:spPr>
          <a:xfrm>
            <a:off x="8128000" y="1587500"/>
            <a:ext cx="1143000" cy="584775"/>
          </a:xfrm>
          <a:prstGeom prst="rect">
            <a:avLst/>
          </a:prstGeom>
          <a:noFill/>
        </p:spPr>
        <p:txBody>
          <a:bodyPr vert="horz" lIns="0" tIns="0" rIns="0" bIns="0" rtlCol="0" anchor="t">
            <a:spAutoFit/>
          </a:bodyPr>
          <a:lstStyle/>
          <a:p>
            <a:r>
              <a:rPr lang="fr-CA" sz="3800" b="1">
                <a:solidFill>
                  <a:srgbClr val="3D8DFF"/>
                </a:solidFill>
                <a:latin typeface="Arial" panose="020B0604020202020204" pitchFamily="34" charset="0"/>
              </a:rPr>
              <a:t>03</a:t>
            </a:r>
          </a:p>
        </p:txBody>
      </p:sp>
      <p:cxnSp>
        <p:nvCxnSpPr>
          <p:cNvPr id="12" name="Straight Connector 11">
            <a:extLst>
              <a:ext uri="{FF2B5EF4-FFF2-40B4-BE49-F238E27FC236}">
                <a16:creationId xmlns:a16="http://schemas.microsoft.com/office/drawing/2014/main" id="{93ED4BFF-4ACA-8E8B-4E13-1515E817AA52}"/>
              </a:ext>
            </a:extLst>
          </p:cNvPr>
          <p:cNvCxnSpPr/>
          <p:nvPr/>
        </p:nvCxnSpPr>
        <p:spPr>
          <a:xfrm>
            <a:off x="8128000" y="2476500"/>
            <a:ext cx="2984500" cy="0"/>
          </a:xfrm>
          <a:prstGeom prst="line">
            <a:avLst/>
          </a:prstGeom>
          <a:ln w="12700">
            <a:solidFill>
              <a:srgbClr val="B8BCC4"/>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CE352699-BDA8-DB1A-0EEB-7C83B9C74598}"/>
              </a:ext>
            </a:extLst>
          </p:cNvPr>
          <p:cNvSpPr txBox="1"/>
          <p:nvPr/>
        </p:nvSpPr>
        <p:spPr>
          <a:xfrm>
            <a:off x="8128000" y="2794000"/>
            <a:ext cx="3111500" cy="369332"/>
          </a:xfrm>
          <a:prstGeom prst="rect">
            <a:avLst/>
          </a:prstGeom>
          <a:noFill/>
        </p:spPr>
        <p:txBody>
          <a:bodyPr vert="horz" lIns="0" tIns="0" rIns="0" bIns="0" rtlCol="0" anchor="t">
            <a:spAutoFit/>
          </a:bodyPr>
          <a:lstStyle/>
          <a:p>
            <a:r>
              <a:rPr lang="fr-CA" sz="2400" b="1">
                <a:solidFill>
                  <a:srgbClr val="000000"/>
                </a:solidFill>
                <a:latin typeface="Arial" panose="020B0604020202020204" pitchFamily="34" charset="0"/>
              </a:rPr>
              <a:t>Backtest before 2026</a:t>
            </a:r>
          </a:p>
        </p:txBody>
      </p:sp>
      <p:sp>
        <p:nvSpPr>
          <p:cNvPr id="14" name="TextBox 13">
            <a:extLst>
              <a:ext uri="{FF2B5EF4-FFF2-40B4-BE49-F238E27FC236}">
                <a16:creationId xmlns:a16="http://schemas.microsoft.com/office/drawing/2014/main" id="{3CF2049A-C91D-1C79-F6C0-DCB539B1E442}"/>
              </a:ext>
            </a:extLst>
          </p:cNvPr>
          <p:cNvSpPr txBox="1"/>
          <p:nvPr/>
        </p:nvSpPr>
        <p:spPr>
          <a:xfrm>
            <a:off x="8128000" y="3810000"/>
            <a:ext cx="3111500" cy="830997"/>
          </a:xfrm>
          <a:prstGeom prst="rect">
            <a:avLst/>
          </a:prstGeom>
          <a:noFill/>
        </p:spPr>
        <p:txBody>
          <a:bodyPr vert="horz" lIns="0" tIns="0" rIns="0" bIns="0" rtlCol="0" anchor="t">
            <a:spAutoFit/>
          </a:bodyPr>
          <a:lstStyle/>
          <a:p>
            <a:r>
              <a:rPr lang="en-US">
                <a:solidFill>
                  <a:srgbClr val="4C525B"/>
                </a:solidFill>
                <a:latin typeface="Arial" panose="020B0604020202020204" pitchFamily="34" charset="0"/>
              </a:rPr>
              <a:t>Predict 2023-2025 using only earlier years.
Then estimate 2026.</a:t>
            </a:r>
            <a:endParaRPr lang="fr-CA">
              <a:solidFill>
                <a:srgbClr val="4C525B"/>
              </a:solidFill>
              <a:latin typeface="Arial" panose="020B0604020202020204" pitchFamily="34" charset="0"/>
            </a:endParaRPr>
          </a:p>
        </p:txBody>
      </p:sp>
      <p:sp>
        <p:nvSpPr>
          <p:cNvPr id="15" name="TextBox 14">
            <a:extLst>
              <a:ext uri="{FF2B5EF4-FFF2-40B4-BE49-F238E27FC236}">
                <a16:creationId xmlns:a16="http://schemas.microsoft.com/office/drawing/2014/main" id="{8B99D62D-C74C-E549-B46D-B0AFF69E3171}"/>
              </a:ext>
            </a:extLst>
          </p:cNvPr>
          <p:cNvSpPr txBox="1"/>
          <p:nvPr/>
        </p:nvSpPr>
        <p:spPr>
          <a:xfrm>
            <a:off x="508000" y="5740400"/>
            <a:ext cx="9652000" cy="307777"/>
          </a:xfrm>
          <a:prstGeom prst="rect">
            <a:avLst/>
          </a:prstGeom>
          <a:noFill/>
        </p:spPr>
        <p:txBody>
          <a:bodyPr vert="horz" lIns="0" tIns="0" rIns="0" bIns="0" rtlCol="0" anchor="t">
            <a:spAutoFit/>
          </a:bodyPr>
          <a:lstStyle/>
          <a:p>
            <a:r>
              <a:rPr lang="en-US" sz="2000" b="1">
                <a:solidFill>
                  <a:srgbClr val="000000"/>
                </a:solidFill>
                <a:latin typeface="Arial" panose="020B0604020202020204" pitchFamily="34" charset="0"/>
              </a:rPr>
              <a:t>The same trailing-mean helper is shared by estimate_2026() and backtest().</a:t>
            </a:r>
            <a:endParaRPr lang="fr-CA" sz="2000" b="1">
              <a:solidFill>
                <a:srgbClr val="000000"/>
              </a:solidFill>
              <a:latin typeface="Arial" panose="020B0604020202020204" pitchFamily="34" charset="0"/>
            </a:endParaRPr>
          </a:p>
        </p:txBody>
      </p:sp>
      <p:sp>
        <p:nvSpPr>
          <p:cNvPr id="16" name="TextBox 15">
            <a:extLst>
              <a:ext uri="{FF2B5EF4-FFF2-40B4-BE49-F238E27FC236}">
                <a16:creationId xmlns:a16="http://schemas.microsoft.com/office/drawing/2014/main" id="{46E897DB-9BC2-1E76-AD2B-434526D62F03}"/>
              </a:ext>
            </a:extLst>
          </p:cNvPr>
          <p:cNvSpPr txBox="1"/>
          <p:nvPr/>
        </p:nvSpPr>
        <p:spPr>
          <a:xfrm>
            <a:off x="11493500" y="6502400"/>
            <a:ext cx="254000" cy="138499"/>
          </a:xfrm>
          <a:prstGeom prst="rect">
            <a:avLst/>
          </a:prstGeom>
          <a:noFill/>
        </p:spPr>
        <p:txBody>
          <a:bodyPr vert="horz" lIns="0" tIns="0" rIns="0" bIns="0" rtlCol="0" anchor="t">
            <a:spAutoFit/>
          </a:bodyPr>
          <a:lstStyle/>
          <a:p>
            <a:pPr algn="r"/>
            <a:r>
              <a:rPr lang="fr-CA" sz="900">
                <a:solidFill>
                  <a:srgbClr val="4C525B"/>
                </a:solidFill>
                <a:latin typeface="Arial" panose="020B0604020202020204" pitchFamily="34" charset="0"/>
              </a:rPr>
              <a:t>3</a:t>
            </a:r>
          </a:p>
        </p:txBody>
      </p:sp>
    </p:spTree>
    <p:extLst>
      <p:ext uri="{BB962C8B-B14F-4D97-AF65-F5344CB8AC3E}">
        <p14:creationId xmlns:p14="http://schemas.microsoft.com/office/powerpoint/2010/main" val="29590676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E0B6E5-AD54-E278-649E-B1D67E7FB81A}"/>
              </a:ext>
            </a:extLst>
          </p:cNvPr>
          <p:cNvSpPr txBox="1"/>
          <p:nvPr/>
        </p:nvSpPr>
        <p:spPr>
          <a:xfrm>
            <a:off x="381000" y="330200"/>
            <a:ext cx="11303000" cy="553998"/>
          </a:xfrm>
          <a:prstGeom prst="rect">
            <a:avLst/>
          </a:prstGeom>
          <a:noFill/>
        </p:spPr>
        <p:txBody>
          <a:bodyPr vert="horz" lIns="0" tIns="0" rIns="0" bIns="0" rtlCol="0" anchor="t">
            <a:spAutoFit/>
          </a:bodyPr>
          <a:lstStyle/>
          <a:p>
            <a:r>
              <a:rPr lang="en-US" sz="3600" b="1">
                <a:solidFill>
                  <a:srgbClr val="000000"/>
                </a:solidFill>
                <a:latin typeface="Arial" panose="020B0604020202020204" pitchFamily="34" charset="0"/>
              </a:rPr>
              <a:t>Concessions and turnover explain recent growth</a:t>
            </a:r>
            <a:endParaRPr lang="fr-CA" sz="3600" b="1">
              <a:solidFill>
                <a:srgbClr val="000000"/>
              </a:solidFill>
              <a:latin typeface="Arial" panose="020B0604020202020204" pitchFamily="34" charset="0"/>
            </a:endParaRPr>
          </a:p>
        </p:txBody>
      </p:sp>
      <p:sp>
        <p:nvSpPr>
          <p:cNvPr id="3" name="TextBox 2">
            <a:extLst>
              <a:ext uri="{FF2B5EF4-FFF2-40B4-BE49-F238E27FC236}">
                <a16:creationId xmlns:a16="http://schemas.microsoft.com/office/drawing/2014/main" id="{81B7C00F-D94D-127C-49CA-74DBC1CC8874}"/>
              </a:ext>
            </a:extLst>
          </p:cNvPr>
          <p:cNvSpPr txBox="1"/>
          <p:nvPr/>
        </p:nvSpPr>
        <p:spPr>
          <a:xfrm>
            <a:off x="381000" y="1143000"/>
            <a:ext cx="10033000" cy="323165"/>
          </a:xfrm>
          <a:prstGeom prst="rect">
            <a:avLst/>
          </a:prstGeom>
          <a:noFill/>
        </p:spPr>
        <p:txBody>
          <a:bodyPr vert="horz" lIns="0" tIns="0" rIns="0" bIns="0" rtlCol="0" anchor="t">
            <a:spAutoFit/>
          </a:bodyPr>
          <a:lstStyle/>
          <a:p>
            <a:r>
              <a:rPr lang="en-US" sz="2100">
                <a:solidFill>
                  <a:srgbClr val="4C525B"/>
                </a:solidFill>
                <a:latin typeface="Arial" panose="020B0604020202020204" pitchFamily="34" charset="0"/>
              </a:rPr>
              <a:t>Contract rent alone would overstate the growth tenants actually pay.</a:t>
            </a:r>
            <a:endParaRPr lang="fr-CA" sz="2100">
              <a:solidFill>
                <a:srgbClr val="4C525B"/>
              </a:solidFill>
              <a:latin typeface="Arial" panose="020B0604020202020204" pitchFamily="34" charset="0"/>
            </a:endParaRPr>
          </a:p>
        </p:txBody>
      </p:sp>
      <p:sp>
        <p:nvSpPr>
          <p:cNvPr id="4" name="Rectangle 3">
            <a:extLst>
              <a:ext uri="{FF2B5EF4-FFF2-40B4-BE49-F238E27FC236}">
                <a16:creationId xmlns:a16="http://schemas.microsoft.com/office/drawing/2014/main" id="{9AC1681A-5622-97BE-F765-05EE0E8F20C0}"/>
              </a:ext>
            </a:extLst>
          </p:cNvPr>
          <p:cNvSpPr/>
          <p:nvPr/>
        </p:nvSpPr>
        <p:spPr>
          <a:xfrm>
            <a:off x="508000" y="2095500"/>
            <a:ext cx="3302000" cy="2921000"/>
          </a:xfrm>
          <a:prstGeom prst="rect">
            <a:avLst/>
          </a:prstGeom>
          <a:solidFill>
            <a:srgbClr val="EDED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5" name="TextBox 4">
            <a:extLst>
              <a:ext uri="{FF2B5EF4-FFF2-40B4-BE49-F238E27FC236}">
                <a16:creationId xmlns:a16="http://schemas.microsoft.com/office/drawing/2014/main" id="{679F13DB-2F76-6500-17CB-6123ADF763D7}"/>
              </a:ext>
            </a:extLst>
          </p:cNvPr>
          <p:cNvSpPr txBox="1"/>
          <p:nvPr/>
        </p:nvSpPr>
        <p:spPr>
          <a:xfrm>
            <a:off x="787400" y="2603500"/>
            <a:ext cx="2730500" cy="584775"/>
          </a:xfrm>
          <a:prstGeom prst="rect">
            <a:avLst/>
          </a:prstGeom>
          <a:noFill/>
        </p:spPr>
        <p:txBody>
          <a:bodyPr vert="horz" lIns="0" tIns="0" rIns="0" bIns="0" rtlCol="0" anchor="t">
            <a:spAutoFit/>
          </a:bodyPr>
          <a:lstStyle/>
          <a:p>
            <a:r>
              <a:rPr lang="fr-CA" sz="3800" b="1">
                <a:solidFill>
                  <a:srgbClr val="000000"/>
                </a:solidFill>
                <a:latin typeface="Arial" panose="020B0604020202020204" pitchFamily="34" charset="0"/>
              </a:rPr>
              <a:t>85.39%</a:t>
            </a:r>
          </a:p>
        </p:txBody>
      </p:sp>
      <p:sp>
        <p:nvSpPr>
          <p:cNvPr id="6" name="TextBox 5">
            <a:extLst>
              <a:ext uri="{FF2B5EF4-FFF2-40B4-BE49-F238E27FC236}">
                <a16:creationId xmlns:a16="http://schemas.microsoft.com/office/drawing/2014/main" id="{A01AD95F-5490-ABD8-AEAA-9FA2FBC87A36}"/>
              </a:ext>
            </a:extLst>
          </p:cNvPr>
          <p:cNvSpPr txBox="1"/>
          <p:nvPr/>
        </p:nvSpPr>
        <p:spPr>
          <a:xfrm>
            <a:off x="787400" y="3683000"/>
            <a:ext cx="2730500" cy="584775"/>
          </a:xfrm>
          <a:prstGeom prst="rect">
            <a:avLst/>
          </a:prstGeom>
          <a:noFill/>
        </p:spPr>
        <p:txBody>
          <a:bodyPr vert="horz" lIns="0" tIns="0" rIns="0" bIns="0" rtlCol="0" anchor="t">
            <a:spAutoFit/>
          </a:bodyPr>
          <a:lstStyle/>
          <a:p>
            <a:r>
              <a:rPr lang="en-US" sz="1900">
                <a:solidFill>
                  <a:srgbClr val="4C525B"/>
                </a:solidFill>
                <a:latin typeface="Arial" panose="020B0604020202020204" pitchFamily="34" charset="0"/>
              </a:rPr>
              <a:t>2025 leases with
a concession</a:t>
            </a:r>
            <a:endParaRPr lang="fr-CA" sz="1900">
              <a:solidFill>
                <a:srgbClr val="4C525B"/>
              </a:solidFill>
              <a:latin typeface="Arial" panose="020B0604020202020204" pitchFamily="34" charset="0"/>
            </a:endParaRPr>
          </a:p>
        </p:txBody>
      </p:sp>
      <p:sp>
        <p:nvSpPr>
          <p:cNvPr id="7" name="Rectangle 6">
            <a:extLst>
              <a:ext uri="{FF2B5EF4-FFF2-40B4-BE49-F238E27FC236}">
                <a16:creationId xmlns:a16="http://schemas.microsoft.com/office/drawing/2014/main" id="{CB0B4743-A1C0-24BC-519E-E984CFF16933}"/>
              </a:ext>
            </a:extLst>
          </p:cNvPr>
          <p:cNvSpPr/>
          <p:nvPr/>
        </p:nvSpPr>
        <p:spPr>
          <a:xfrm>
            <a:off x="4381500" y="2095500"/>
            <a:ext cx="3302000" cy="2921000"/>
          </a:xfrm>
          <a:prstGeom prst="rect">
            <a:avLst/>
          </a:prstGeom>
          <a:solidFill>
            <a:srgbClr val="EDED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8" name="TextBox 7">
            <a:extLst>
              <a:ext uri="{FF2B5EF4-FFF2-40B4-BE49-F238E27FC236}">
                <a16:creationId xmlns:a16="http://schemas.microsoft.com/office/drawing/2014/main" id="{95FF9312-F4A9-8110-D0E2-277B3345A211}"/>
              </a:ext>
            </a:extLst>
          </p:cNvPr>
          <p:cNvSpPr txBox="1"/>
          <p:nvPr/>
        </p:nvSpPr>
        <p:spPr>
          <a:xfrm>
            <a:off x="4660900" y="2603500"/>
            <a:ext cx="2730500" cy="584775"/>
          </a:xfrm>
          <a:prstGeom prst="rect">
            <a:avLst/>
          </a:prstGeom>
          <a:noFill/>
        </p:spPr>
        <p:txBody>
          <a:bodyPr vert="horz" lIns="0" tIns="0" rIns="0" bIns="0" rtlCol="0" anchor="t">
            <a:spAutoFit/>
          </a:bodyPr>
          <a:lstStyle/>
          <a:p>
            <a:r>
              <a:rPr lang="fr-CA" sz="3800" b="1">
                <a:solidFill>
                  <a:srgbClr val="000000"/>
                </a:solidFill>
                <a:latin typeface="Arial" panose="020B0604020202020204" pitchFamily="34" charset="0"/>
              </a:rPr>
              <a:t>$219.92</a:t>
            </a:r>
          </a:p>
        </p:txBody>
      </p:sp>
      <p:sp>
        <p:nvSpPr>
          <p:cNvPr id="9" name="TextBox 8">
            <a:extLst>
              <a:ext uri="{FF2B5EF4-FFF2-40B4-BE49-F238E27FC236}">
                <a16:creationId xmlns:a16="http://schemas.microsoft.com/office/drawing/2014/main" id="{5E7370DB-A2B8-5791-C424-76A2B87A98C4}"/>
              </a:ext>
            </a:extLst>
          </p:cNvPr>
          <p:cNvSpPr txBox="1"/>
          <p:nvPr/>
        </p:nvSpPr>
        <p:spPr>
          <a:xfrm>
            <a:off x="4660900" y="3683000"/>
            <a:ext cx="2730500" cy="584775"/>
          </a:xfrm>
          <a:prstGeom prst="rect">
            <a:avLst/>
          </a:prstGeom>
          <a:noFill/>
        </p:spPr>
        <p:txBody>
          <a:bodyPr vert="horz" lIns="0" tIns="0" rIns="0" bIns="0" rtlCol="0" anchor="t">
            <a:spAutoFit/>
          </a:bodyPr>
          <a:lstStyle/>
          <a:p>
            <a:r>
              <a:rPr lang="en-US" sz="1900">
                <a:solidFill>
                  <a:srgbClr val="4C525B"/>
                </a:solidFill>
                <a:latin typeface="Arial" panose="020B0604020202020204" pitchFamily="34" charset="0"/>
              </a:rPr>
              <a:t>Median monthly
discount in 2025</a:t>
            </a:r>
            <a:endParaRPr lang="fr-CA" sz="1900">
              <a:solidFill>
                <a:srgbClr val="4C525B"/>
              </a:solidFill>
              <a:latin typeface="Arial" panose="020B0604020202020204" pitchFamily="34" charset="0"/>
            </a:endParaRPr>
          </a:p>
        </p:txBody>
      </p:sp>
      <p:sp>
        <p:nvSpPr>
          <p:cNvPr id="10" name="Rectangle 9">
            <a:extLst>
              <a:ext uri="{FF2B5EF4-FFF2-40B4-BE49-F238E27FC236}">
                <a16:creationId xmlns:a16="http://schemas.microsoft.com/office/drawing/2014/main" id="{723A8272-CAC2-457E-FAB9-4541C98D8F4D}"/>
              </a:ext>
            </a:extLst>
          </p:cNvPr>
          <p:cNvSpPr/>
          <p:nvPr/>
        </p:nvSpPr>
        <p:spPr>
          <a:xfrm>
            <a:off x="8255000" y="2095500"/>
            <a:ext cx="3302000" cy="2921000"/>
          </a:xfrm>
          <a:prstGeom prst="rect">
            <a:avLst/>
          </a:prstGeom>
          <a:solidFill>
            <a:srgbClr val="EDED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11" name="TextBox 10">
            <a:extLst>
              <a:ext uri="{FF2B5EF4-FFF2-40B4-BE49-F238E27FC236}">
                <a16:creationId xmlns:a16="http://schemas.microsoft.com/office/drawing/2014/main" id="{3F29F4A3-D976-F3AB-67EA-B13DBDE0E601}"/>
              </a:ext>
            </a:extLst>
          </p:cNvPr>
          <p:cNvSpPr txBox="1"/>
          <p:nvPr/>
        </p:nvSpPr>
        <p:spPr>
          <a:xfrm>
            <a:off x="8534400" y="2603500"/>
            <a:ext cx="2730500" cy="584775"/>
          </a:xfrm>
          <a:prstGeom prst="rect">
            <a:avLst/>
          </a:prstGeom>
          <a:noFill/>
        </p:spPr>
        <p:txBody>
          <a:bodyPr vert="horz" lIns="0" tIns="0" rIns="0" bIns="0" rtlCol="0" anchor="t">
            <a:spAutoFit/>
          </a:bodyPr>
          <a:lstStyle/>
          <a:p>
            <a:r>
              <a:rPr lang="fr-CA" sz="3800" b="1">
                <a:solidFill>
                  <a:srgbClr val="000000"/>
                </a:solidFill>
                <a:latin typeface="Arial" panose="020B0604020202020204" pitchFamily="34" charset="0"/>
              </a:rPr>
              <a:t>5.74%</a:t>
            </a:r>
          </a:p>
        </p:txBody>
      </p:sp>
      <p:sp>
        <p:nvSpPr>
          <p:cNvPr id="12" name="TextBox 11">
            <a:extLst>
              <a:ext uri="{FF2B5EF4-FFF2-40B4-BE49-F238E27FC236}">
                <a16:creationId xmlns:a16="http://schemas.microsoft.com/office/drawing/2014/main" id="{A7B81D12-0019-9658-2F1D-099E5302721E}"/>
              </a:ext>
            </a:extLst>
          </p:cNvPr>
          <p:cNvSpPr txBox="1"/>
          <p:nvPr/>
        </p:nvSpPr>
        <p:spPr>
          <a:xfrm>
            <a:off x="8534400" y="3683000"/>
            <a:ext cx="2730500" cy="584775"/>
          </a:xfrm>
          <a:prstGeom prst="rect">
            <a:avLst/>
          </a:prstGeom>
          <a:noFill/>
        </p:spPr>
        <p:txBody>
          <a:bodyPr vert="horz" lIns="0" tIns="0" rIns="0" bIns="0" rtlCol="0" anchor="t">
            <a:spAutoFit/>
          </a:bodyPr>
          <a:lstStyle/>
          <a:p>
            <a:r>
              <a:rPr lang="en-US" sz="1900" dirty="0">
                <a:solidFill>
                  <a:srgbClr val="4C525B"/>
                </a:solidFill>
                <a:latin typeface="Arial" panose="020B0604020202020204" pitchFamily="34" charset="0"/>
              </a:rPr>
              <a:t>2025 turnover growth
vs. 2.91% renewals</a:t>
            </a:r>
            <a:endParaRPr lang="fr-CA" sz="1900" dirty="0">
              <a:solidFill>
                <a:srgbClr val="4C525B"/>
              </a:solidFill>
              <a:latin typeface="Arial" panose="020B0604020202020204" pitchFamily="34" charset="0"/>
            </a:endParaRPr>
          </a:p>
        </p:txBody>
      </p:sp>
      <p:sp>
        <p:nvSpPr>
          <p:cNvPr id="13" name="TextBox 12">
            <a:extLst>
              <a:ext uri="{FF2B5EF4-FFF2-40B4-BE49-F238E27FC236}">
                <a16:creationId xmlns:a16="http://schemas.microsoft.com/office/drawing/2014/main" id="{48418038-2C06-B347-A424-2D3A595E14AB}"/>
              </a:ext>
            </a:extLst>
          </p:cNvPr>
          <p:cNvSpPr txBox="1"/>
          <p:nvPr/>
        </p:nvSpPr>
        <p:spPr>
          <a:xfrm>
            <a:off x="508000" y="5588000"/>
            <a:ext cx="10414000" cy="338554"/>
          </a:xfrm>
          <a:prstGeom prst="rect">
            <a:avLst/>
          </a:prstGeom>
          <a:noFill/>
        </p:spPr>
        <p:txBody>
          <a:bodyPr vert="horz" lIns="0" tIns="0" rIns="0" bIns="0" rtlCol="0" anchor="t">
            <a:spAutoFit/>
          </a:bodyPr>
          <a:lstStyle/>
          <a:p>
            <a:r>
              <a:rPr lang="en-US" sz="2200" b="1">
                <a:solidFill>
                  <a:srgbClr val="000000"/>
                </a:solidFill>
                <a:latin typeface="Arial" panose="020B0604020202020204" pitchFamily="34" charset="0"/>
              </a:rPr>
              <a:t>Effective growth in 2025 was 3.58%, compared with 7.04% using contract rent.</a:t>
            </a:r>
            <a:endParaRPr lang="fr-CA" sz="2200" b="1">
              <a:solidFill>
                <a:srgbClr val="000000"/>
              </a:solidFill>
              <a:latin typeface="Arial" panose="020B0604020202020204" pitchFamily="34" charset="0"/>
            </a:endParaRPr>
          </a:p>
        </p:txBody>
      </p:sp>
      <p:sp>
        <p:nvSpPr>
          <p:cNvPr id="14" name="TextBox 13">
            <a:extLst>
              <a:ext uri="{FF2B5EF4-FFF2-40B4-BE49-F238E27FC236}">
                <a16:creationId xmlns:a16="http://schemas.microsoft.com/office/drawing/2014/main" id="{1E08FDD0-DE8D-1C81-0386-770A0EF3CC4A}"/>
              </a:ext>
            </a:extLst>
          </p:cNvPr>
          <p:cNvSpPr txBox="1"/>
          <p:nvPr/>
        </p:nvSpPr>
        <p:spPr>
          <a:xfrm>
            <a:off x="11493500" y="6502400"/>
            <a:ext cx="254000" cy="138499"/>
          </a:xfrm>
          <a:prstGeom prst="rect">
            <a:avLst/>
          </a:prstGeom>
          <a:noFill/>
        </p:spPr>
        <p:txBody>
          <a:bodyPr vert="horz" lIns="0" tIns="0" rIns="0" bIns="0" rtlCol="0" anchor="t">
            <a:spAutoFit/>
          </a:bodyPr>
          <a:lstStyle/>
          <a:p>
            <a:pPr algn="r"/>
            <a:r>
              <a:rPr lang="fr-CA" sz="900">
                <a:solidFill>
                  <a:srgbClr val="4C525B"/>
                </a:solidFill>
                <a:latin typeface="Arial" panose="020B0604020202020204" pitchFamily="34" charset="0"/>
              </a:rPr>
              <a:t>4</a:t>
            </a:r>
          </a:p>
        </p:txBody>
      </p:sp>
    </p:spTree>
    <p:extLst>
      <p:ext uri="{BB962C8B-B14F-4D97-AF65-F5344CB8AC3E}">
        <p14:creationId xmlns:p14="http://schemas.microsoft.com/office/powerpoint/2010/main" val="7283371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75B7DC-DF23-9360-6311-E727518A6FCB}"/>
              </a:ext>
            </a:extLst>
          </p:cNvPr>
          <p:cNvSpPr txBox="1"/>
          <p:nvPr/>
        </p:nvSpPr>
        <p:spPr>
          <a:xfrm>
            <a:off x="381000" y="330200"/>
            <a:ext cx="11430000" cy="553998"/>
          </a:xfrm>
          <a:prstGeom prst="rect">
            <a:avLst/>
          </a:prstGeom>
          <a:noFill/>
        </p:spPr>
        <p:txBody>
          <a:bodyPr vert="horz" lIns="0" tIns="0" rIns="0" bIns="0" rtlCol="0" anchor="t">
            <a:spAutoFit/>
          </a:bodyPr>
          <a:lstStyle/>
          <a:p>
            <a:r>
              <a:rPr lang="en-US" sz="3600" b="1" dirty="0">
                <a:solidFill>
                  <a:srgbClr val="000000"/>
                </a:solidFill>
                <a:latin typeface="Arial" panose="020B0604020202020204" pitchFamily="34" charset="0"/>
              </a:rPr>
              <a:t>External data checks the result</a:t>
            </a:r>
            <a:endParaRPr lang="fr-CA" sz="3600" b="1" dirty="0">
              <a:solidFill>
                <a:srgbClr val="000000"/>
              </a:solidFill>
              <a:latin typeface="Arial" panose="020B0604020202020204" pitchFamily="34" charset="0"/>
            </a:endParaRPr>
          </a:p>
        </p:txBody>
      </p:sp>
      <p:sp>
        <p:nvSpPr>
          <p:cNvPr id="3" name="TextBox 2">
            <a:extLst>
              <a:ext uri="{FF2B5EF4-FFF2-40B4-BE49-F238E27FC236}">
                <a16:creationId xmlns:a16="http://schemas.microsoft.com/office/drawing/2014/main" id="{4C897955-2980-3AB8-AF30-72F3020F81BD}"/>
              </a:ext>
            </a:extLst>
          </p:cNvPr>
          <p:cNvSpPr txBox="1"/>
          <p:nvPr/>
        </p:nvSpPr>
        <p:spPr>
          <a:xfrm>
            <a:off x="508000" y="1587500"/>
            <a:ext cx="5334000" cy="1769715"/>
          </a:xfrm>
          <a:prstGeom prst="rect">
            <a:avLst/>
          </a:prstGeom>
          <a:noFill/>
        </p:spPr>
        <p:txBody>
          <a:bodyPr vert="horz" lIns="0" tIns="0" rIns="0" bIns="0" rtlCol="0" anchor="t">
            <a:spAutoFit/>
          </a:bodyPr>
          <a:lstStyle/>
          <a:p>
            <a:r>
              <a:rPr lang="en-US" sz="2300" dirty="0">
                <a:solidFill>
                  <a:srgbClr val="000000"/>
                </a:solidFill>
                <a:latin typeface="Arial" panose="020B0604020202020204" pitchFamily="34" charset="0"/>
              </a:rPr>
              <a:t>CMHC and rent CPI show market pressure, but only a few annual observations are available. We use them as checks instead of forcing them into the forecast.</a:t>
            </a:r>
            <a:endParaRPr lang="fr-CA" sz="2300" dirty="0">
              <a:solidFill>
                <a:srgbClr val="000000"/>
              </a:solidFill>
              <a:latin typeface="Arial" panose="020B0604020202020204" pitchFamily="34" charset="0"/>
            </a:endParaRPr>
          </a:p>
        </p:txBody>
      </p:sp>
      <p:sp>
        <p:nvSpPr>
          <p:cNvPr id="4" name="TextBox 3">
            <a:extLst>
              <a:ext uri="{FF2B5EF4-FFF2-40B4-BE49-F238E27FC236}">
                <a16:creationId xmlns:a16="http://schemas.microsoft.com/office/drawing/2014/main" id="{0B676DD0-441F-5204-7951-99A37084C77E}"/>
              </a:ext>
            </a:extLst>
          </p:cNvPr>
          <p:cNvSpPr txBox="1"/>
          <p:nvPr/>
        </p:nvSpPr>
        <p:spPr>
          <a:xfrm>
            <a:off x="508000" y="4254500"/>
            <a:ext cx="5334000" cy="1015663"/>
          </a:xfrm>
          <a:prstGeom prst="rect">
            <a:avLst/>
          </a:prstGeom>
          <a:noFill/>
        </p:spPr>
        <p:txBody>
          <a:bodyPr vert="horz" lIns="0" tIns="0" rIns="0" bIns="0" rtlCol="0" anchor="t">
            <a:spAutoFit/>
          </a:bodyPr>
          <a:lstStyle/>
          <a:p>
            <a:r>
              <a:rPr lang="en-US" sz="2200" b="1">
                <a:solidFill>
                  <a:srgbClr val="3D8DFF"/>
                </a:solidFill>
                <a:latin typeface="Arial" panose="020B0604020202020204" pitchFamily="34" charset="0"/>
              </a:rPr>
              <a:t>This keeps the estimate easy to reproduce and avoids an arbitrary adjustment.</a:t>
            </a:r>
            <a:endParaRPr lang="fr-CA" sz="2200" b="1">
              <a:solidFill>
                <a:srgbClr val="3D8DFF"/>
              </a:solidFill>
              <a:latin typeface="Arial" panose="020B0604020202020204" pitchFamily="34" charset="0"/>
            </a:endParaRPr>
          </a:p>
        </p:txBody>
      </p:sp>
      <p:sp>
        <p:nvSpPr>
          <p:cNvPr id="5" name="Rectangle 4">
            <a:extLst>
              <a:ext uri="{FF2B5EF4-FFF2-40B4-BE49-F238E27FC236}">
                <a16:creationId xmlns:a16="http://schemas.microsoft.com/office/drawing/2014/main" id="{C5F262DC-2B3D-C8C2-55BA-BEB770DB372E}"/>
              </a:ext>
            </a:extLst>
          </p:cNvPr>
          <p:cNvSpPr/>
          <p:nvPr/>
        </p:nvSpPr>
        <p:spPr>
          <a:xfrm>
            <a:off x="6604000" y="1460500"/>
            <a:ext cx="4953000" cy="4064000"/>
          </a:xfrm>
          <a:prstGeom prst="rect">
            <a:avLst/>
          </a:prstGeom>
          <a:solidFill>
            <a:srgbClr val="EDEDE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CA"/>
          </a:p>
        </p:txBody>
      </p:sp>
      <p:sp>
        <p:nvSpPr>
          <p:cNvPr id="6" name="TextBox 5">
            <a:extLst>
              <a:ext uri="{FF2B5EF4-FFF2-40B4-BE49-F238E27FC236}">
                <a16:creationId xmlns:a16="http://schemas.microsoft.com/office/drawing/2014/main" id="{1B8FF6C8-AD82-A9F0-1D28-71CA5FE2B661}"/>
              </a:ext>
            </a:extLst>
          </p:cNvPr>
          <p:cNvSpPr txBox="1"/>
          <p:nvPr/>
        </p:nvSpPr>
        <p:spPr>
          <a:xfrm>
            <a:off x="6985000" y="1905000"/>
            <a:ext cx="355600" cy="307777"/>
          </a:xfrm>
          <a:prstGeom prst="rect">
            <a:avLst/>
          </a:prstGeom>
          <a:noFill/>
        </p:spPr>
        <p:txBody>
          <a:bodyPr vert="horz" lIns="0" tIns="0" rIns="0" bIns="0" rtlCol="0" anchor="t">
            <a:spAutoFit/>
          </a:bodyPr>
          <a:lstStyle/>
          <a:p>
            <a:r>
              <a:rPr lang="fr-CA" sz="2000" b="1">
                <a:solidFill>
                  <a:srgbClr val="3D8DFF"/>
                </a:solidFill>
                <a:latin typeface="Arial" panose="020B0604020202020204" pitchFamily="34" charset="0"/>
              </a:rPr>
              <a:t>&gt;</a:t>
            </a:r>
          </a:p>
        </p:txBody>
      </p:sp>
      <p:sp>
        <p:nvSpPr>
          <p:cNvPr id="7" name="TextBox 6">
            <a:extLst>
              <a:ext uri="{FF2B5EF4-FFF2-40B4-BE49-F238E27FC236}">
                <a16:creationId xmlns:a16="http://schemas.microsoft.com/office/drawing/2014/main" id="{B24300F3-EAF9-4E29-1AA7-FAB879630A23}"/>
              </a:ext>
            </a:extLst>
          </p:cNvPr>
          <p:cNvSpPr txBox="1"/>
          <p:nvPr/>
        </p:nvSpPr>
        <p:spPr>
          <a:xfrm>
            <a:off x="7493000" y="1879600"/>
            <a:ext cx="3492500" cy="553998"/>
          </a:xfrm>
          <a:prstGeom prst="rect">
            <a:avLst/>
          </a:prstGeom>
          <a:noFill/>
        </p:spPr>
        <p:txBody>
          <a:bodyPr vert="horz" lIns="0" tIns="0" rIns="0" bIns="0" rtlCol="0" anchor="t">
            <a:spAutoFit/>
          </a:bodyPr>
          <a:lstStyle/>
          <a:p>
            <a:r>
              <a:rPr lang="en-US">
                <a:solidFill>
                  <a:srgbClr val="000000"/>
                </a:solidFill>
                <a:latin typeface="Arial" panose="020B0604020202020204" pitchFamily="34" charset="0"/>
              </a:rPr>
              <a:t>CMHC Montreal and Ottawa market tables</a:t>
            </a:r>
            <a:endParaRPr lang="fr-CA">
              <a:solidFill>
                <a:srgbClr val="000000"/>
              </a:solidFill>
              <a:latin typeface="Arial" panose="020B0604020202020204" pitchFamily="34" charset="0"/>
            </a:endParaRPr>
          </a:p>
        </p:txBody>
      </p:sp>
      <p:sp>
        <p:nvSpPr>
          <p:cNvPr id="8" name="TextBox 7">
            <a:extLst>
              <a:ext uri="{FF2B5EF4-FFF2-40B4-BE49-F238E27FC236}">
                <a16:creationId xmlns:a16="http://schemas.microsoft.com/office/drawing/2014/main" id="{21C3394A-E69E-54F5-56B3-D67A59A7E7CC}"/>
              </a:ext>
            </a:extLst>
          </p:cNvPr>
          <p:cNvSpPr txBox="1"/>
          <p:nvPr/>
        </p:nvSpPr>
        <p:spPr>
          <a:xfrm>
            <a:off x="6985000" y="2730500"/>
            <a:ext cx="355600" cy="307777"/>
          </a:xfrm>
          <a:prstGeom prst="rect">
            <a:avLst/>
          </a:prstGeom>
          <a:noFill/>
        </p:spPr>
        <p:txBody>
          <a:bodyPr vert="horz" lIns="0" tIns="0" rIns="0" bIns="0" rtlCol="0" anchor="t">
            <a:spAutoFit/>
          </a:bodyPr>
          <a:lstStyle/>
          <a:p>
            <a:r>
              <a:rPr lang="fr-CA" sz="2000" b="1">
                <a:solidFill>
                  <a:srgbClr val="3D8DFF"/>
                </a:solidFill>
                <a:latin typeface="Arial" panose="020B0604020202020204" pitchFamily="34" charset="0"/>
              </a:rPr>
              <a:t>&gt;</a:t>
            </a:r>
          </a:p>
        </p:txBody>
      </p:sp>
      <p:sp>
        <p:nvSpPr>
          <p:cNvPr id="9" name="TextBox 8">
            <a:extLst>
              <a:ext uri="{FF2B5EF4-FFF2-40B4-BE49-F238E27FC236}">
                <a16:creationId xmlns:a16="http://schemas.microsoft.com/office/drawing/2014/main" id="{23151603-7FFA-2ACE-6990-7B4FF3E084F2}"/>
              </a:ext>
            </a:extLst>
          </p:cNvPr>
          <p:cNvSpPr txBox="1"/>
          <p:nvPr/>
        </p:nvSpPr>
        <p:spPr>
          <a:xfrm>
            <a:off x="7493000" y="2705100"/>
            <a:ext cx="3492500" cy="276999"/>
          </a:xfrm>
          <a:prstGeom prst="rect">
            <a:avLst/>
          </a:prstGeom>
          <a:noFill/>
        </p:spPr>
        <p:txBody>
          <a:bodyPr vert="horz" lIns="0" tIns="0" rIns="0" bIns="0" rtlCol="0" anchor="t">
            <a:spAutoFit/>
          </a:bodyPr>
          <a:lstStyle/>
          <a:p>
            <a:r>
              <a:rPr lang="en-US">
                <a:solidFill>
                  <a:srgbClr val="000000"/>
                </a:solidFill>
                <a:latin typeface="Arial" panose="020B0604020202020204" pitchFamily="34" charset="0"/>
              </a:rPr>
              <a:t>Quebec and Ontario rent CPI</a:t>
            </a:r>
            <a:endParaRPr lang="fr-CA">
              <a:solidFill>
                <a:srgbClr val="000000"/>
              </a:solidFill>
              <a:latin typeface="Arial" panose="020B0604020202020204" pitchFamily="34" charset="0"/>
            </a:endParaRPr>
          </a:p>
        </p:txBody>
      </p:sp>
      <p:sp>
        <p:nvSpPr>
          <p:cNvPr id="10" name="TextBox 9">
            <a:extLst>
              <a:ext uri="{FF2B5EF4-FFF2-40B4-BE49-F238E27FC236}">
                <a16:creationId xmlns:a16="http://schemas.microsoft.com/office/drawing/2014/main" id="{DD8582AA-B30D-A3A8-F780-AE627BA96CEE}"/>
              </a:ext>
            </a:extLst>
          </p:cNvPr>
          <p:cNvSpPr txBox="1"/>
          <p:nvPr/>
        </p:nvSpPr>
        <p:spPr>
          <a:xfrm>
            <a:off x="6985000" y="3556000"/>
            <a:ext cx="355600" cy="307777"/>
          </a:xfrm>
          <a:prstGeom prst="rect">
            <a:avLst/>
          </a:prstGeom>
          <a:noFill/>
        </p:spPr>
        <p:txBody>
          <a:bodyPr vert="horz" lIns="0" tIns="0" rIns="0" bIns="0" rtlCol="0" anchor="t">
            <a:spAutoFit/>
          </a:bodyPr>
          <a:lstStyle/>
          <a:p>
            <a:r>
              <a:rPr lang="fr-CA" sz="2000" b="1">
                <a:solidFill>
                  <a:srgbClr val="3D8DFF"/>
                </a:solidFill>
                <a:latin typeface="Arial" panose="020B0604020202020204" pitchFamily="34" charset="0"/>
              </a:rPr>
              <a:t>&gt;</a:t>
            </a:r>
          </a:p>
        </p:txBody>
      </p:sp>
      <p:sp>
        <p:nvSpPr>
          <p:cNvPr id="11" name="TextBox 10">
            <a:extLst>
              <a:ext uri="{FF2B5EF4-FFF2-40B4-BE49-F238E27FC236}">
                <a16:creationId xmlns:a16="http://schemas.microsoft.com/office/drawing/2014/main" id="{32A01605-8D20-2240-7D06-ACB98BD80E9D}"/>
              </a:ext>
            </a:extLst>
          </p:cNvPr>
          <p:cNvSpPr txBox="1"/>
          <p:nvPr/>
        </p:nvSpPr>
        <p:spPr>
          <a:xfrm>
            <a:off x="7493000" y="3530600"/>
            <a:ext cx="3492500" cy="553998"/>
          </a:xfrm>
          <a:prstGeom prst="rect">
            <a:avLst/>
          </a:prstGeom>
          <a:noFill/>
        </p:spPr>
        <p:txBody>
          <a:bodyPr vert="horz" lIns="0" tIns="0" rIns="0" bIns="0" rtlCol="0" anchor="t">
            <a:spAutoFit/>
          </a:bodyPr>
          <a:lstStyle/>
          <a:p>
            <a:r>
              <a:rPr lang="en-US">
                <a:solidFill>
                  <a:srgbClr val="000000"/>
                </a:solidFill>
                <a:latin typeface="Arial" panose="020B0604020202020204" pitchFamily="34" charset="0"/>
              </a:rPr>
              <a:t>The Met reviewed separately from Quebec</a:t>
            </a:r>
            <a:endParaRPr lang="fr-CA">
              <a:solidFill>
                <a:srgbClr val="000000"/>
              </a:solidFill>
              <a:latin typeface="Arial" panose="020B0604020202020204" pitchFamily="34" charset="0"/>
            </a:endParaRPr>
          </a:p>
        </p:txBody>
      </p:sp>
      <p:sp>
        <p:nvSpPr>
          <p:cNvPr id="12" name="TextBox 11">
            <a:extLst>
              <a:ext uri="{FF2B5EF4-FFF2-40B4-BE49-F238E27FC236}">
                <a16:creationId xmlns:a16="http://schemas.microsoft.com/office/drawing/2014/main" id="{6EE61A43-BC7F-5976-B379-7A6F80347579}"/>
              </a:ext>
            </a:extLst>
          </p:cNvPr>
          <p:cNvSpPr txBox="1"/>
          <p:nvPr/>
        </p:nvSpPr>
        <p:spPr>
          <a:xfrm>
            <a:off x="6985000" y="4381500"/>
            <a:ext cx="355600" cy="307777"/>
          </a:xfrm>
          <a:prstGeom prst="rect">
            <a:avLst/>
          </a:prstGeom>
          <a:noFill/>
        </p:spPr>
        <p:txBody>
          <a:bodyPr vert="horz" lIns="0" tIns="0" rIns="0" bIns="0" rtlCol="0" anchor="t">
            <a:spAutoFit/>
          </a:bodyPr>
          <a:lstStyle/>
          <a:p>
            <a:r>
              <a:rPr lang="fr-CA" sz="2000" b="1">
                <a:solidFill>
                  <a:srgbClr val="3D8DFF"/>
                </a:solidFill>
                <a:latin typeface="Arial" panose="020B0604020202020204" pitchFamily="34" charset="0"/>
              </a:rPr>
              <a:t>&gt;</a:t>
            </a:r>
          </a:p>
        </p:txBody>
      </p:sp>
      <p:sp>
        <p:nvSpPr>
          <p:cNvPr id="13" name="TextBox 12">
            <a:extLst>
              <a:ext uri="{FF2B5EF4-FFF2-40B4-BE49-F238E27FC236}">
                <a16:creationId xmlns:a16="http://schemas.microsoft.com/office/drawing/2014/main" id="{2CA43829-8FAD-0A17-4F14-40E44C1BA212}"/>
              </a:ext>
            </a:extLst>
          </p:cNvPr>
          <p:cNvSpPr txBox="1"/>
          <p:nvPr/>
        </p:nvSpPr>
        <p:spPr>
          <a:xfrm>
            <a:off x="7493000" y="4356100"/>
            <a:ext cx="3492500" cy="276999"/>
          </a:xfrm>
          <a:prstGeom prst="rect">
            <a:avLst/>
          </a:prstGeom>
          <a:noFill/>
        </p:spPr>
        <p:txBody>
          <a:bodyPr vert="horz" lIns="0" tIns="0" rIns="0" bIns="0" rtlCol="0" anchor="t">
            <a:spAutoFit/>
          </a:bodyPr>
          <a:lstStyle/>
          <a:p>
            <a:r>
              <a:rPr lang="en-US">
                <a:solidFill>
                  <a:srgbClr val="000000"/>
                </a:solidFill>
                <a:latin typeface="Arial" panose="020B0604020202020204" pitchFamily="34" charset="0"/>
              </a:rPr>
              <a:t>The Met first occupied in 2022</a:t>
            </a:r>
            <a:endParaRPr lang="fr-CA">
              <a:solidFill>
                <a:srgbClr val="000000"/>
              </a:solidFill>
              <a:latin typeface="Arial" panose="020B0604020202020204" pitchFamily="34" charset="0"/>
            </a:endParaRPr>
          </a:p>
        </p:txBody>
      </p:sp>
      <p:sp>
        <p:nvSpPr>
          <p:cNvPr id="14" name="TextBox 13">
            <a:extLst>
              <a:ext uri="{FF2B5EF4-FFF2-40B4-BE49-F238E27FC236}">
                <a16:creationId xmlns:a16="http://schemas.microsoft.com/office/drawing/2014/main" id="{37D6E54A-0FAE-B92E-2B40-B771F36DB074}"/>
              </a:ext>
            </a:extLst>
          </p:cNvPr>
          <p:cNvSpPr txBox="1"/>
          <p:nvPr/>
        </p:nvSpPr>
        <p:spPr>
          <a:xfrm>
            <a:off x="11493500" y="6502400"/>
            <a:ext cx="254000" cy="138499"/>
          </a:xfrm>
          <a:prstGeom prst="rect">
            <a:avLst/>
          </a:prstGeom>
          <a:noFill/>
        </p:spPr>
        <p:txBody>
          <a:bodyPr vert="horz" lIns="0" tIns="0" rIns="0" bIns="0" rtlCol="0" anchor="t">
            <a:spAutoFit/>
          </a:bodyPr>
          <a:lstStyle/>
          <a:p>
            <a:pPr algn="r"/>
            <a:r>
              <a:rPr lang="fr-CA" sz="900">
                <a:solidFill>
                  <a:srgbClr val="4C525B"/>
                </a:solidFill>
                <a:latin typeface="Arial" panose="020B0604020202020204" pitchFamily="34" charset="0"/>
              </a:rPr>
              <a:t>5</a:t>
            </a:r>
          </a:p>
        </p:txBody>
      </p:sp>
    </p:spTree>
    <p:extLst>
      <p:ext uri="{BB962C8B-B14F-4D97-AF65-F5344CB8AC3E}">
        <p14:creationId xmlns:p14="http://schemas.microsoft.com/office/powerpoint/2010/main" val="7115238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E5146B-9667-888C-D9B8-51DA7F0658CA}"/>
              </a:ext>
            </a:extLst>
          </p:cNvPr>
          <p:cNvSpPr txBox="1"/>
          <p:nvPr/>
        </p:nvSpPr>
        <p:spPr>
          <a:xfrm>
            <a:off x="381000" y="330200"/>
            <a:ext cx="11303000" cy="553998"/>
          </a:xfrm>
          <a:prstGeom prst="rect">
            <a:avLst/>
          </a:prstGeom>
          <a:noFill/>
        </p:spPr>
        <p:txBody>
          <a:bodyPr vert="horz" lIns="0" tIns="0" rIns="0" bIns="0" rtlCol="0" anchor="t">
            <a:spAutoFit/>
          </a:bodyPr>
          <a:lstStyle/>
          <a:p>
            <a:r>
              <a:rPr lang="en-US" sz="3600" b="1">
                <a:solidFill>
                  <a:srgbClr val="000000"/>
                </a:solidFill>
                <a:latin typeface="Arial" panose="020B0604020202020204" pitchFamily="34" charset="0"/>
              </a:rPr>
              <a:t>Use 2.46% as the 2026 planning baseline</a:t>
            </a:r>
            <a:endParaRPr lang="fr-CA" sz="3600" b="1">
              <a:solidFill>
                <a:srgbClr val="000000"/>
              </a:solidFill>
              <a:latin typeface="Arial" panose="020B0604020202020204" pitchFamily="34" charset="0"/>
            </a:endParaRPr>
          </a:p>
        </p:txBody>
      </p:sp>
      <p:pic>
        <p:nvPicPr>
          <p:cNvPr id="4" name="Picture 3">
            <a:extLst>
              <a:ext uri="{FF2B5EF4-FFF2-40B4-BE49-F238E27FC236}">
                <a16:creationId xmlns:a16="http://schemas.microsoft.com/office/drawing/2014/main" id="{267D4375-2C55-8660-E6A5-741CDB22184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81000" y="1295400"/>
            <a:ext cx="7556500" cy="4140200"/>
          </a:xfrm>
          <a:prstGeom prst="rect">
            <a:avLst/>
          </a:prstGeom>
        </p:spPr>
      </p:pic>
      <p:sp>
        <p:nvSpPr>
          <p:cNvPr id="5" name="TextBox 4">
            <a:extLst>
              <a:ext uri="{FF2B5EF4-FFF2-40B4-BE49-F238E27FC236}">
                <a16:creationId xmlns:a16="http://schemas.microsoft.com/office/drawing/2014/main" id="{919DF10C-956C-F7C2-E0C1-7871678568ED}"/>
              </a:ext>
            </a:extLst>
          </p:cNvPr>
          <p:cNvSpPr txBox="1"/>
          <p:nvPr/>
        </p:nvSpPr>
        <p:spPr>
          <a:xfrm>
            <a:off x="8445500" y="1524000"/>
            <a:ext cx="2921000" cy="615553"/>
          </a:xfrm>
          <a:prstGeom prst="rect">
            <a:avLst/>
          </a:prstGeom>
          <a:noFill/>
        </p:spPr>
        <p:txBody>
          <a:bodyPr vert="horz" lIns="0" tIns="0" rIns="0" bIns="0" rtlCol="0" anchor="t">
            <a:spAutoFit/>
          </a:bodyPr>
          <a:lstStyle/>
          <a:p>
            <a:r>
              <a:rPr lang="fr-CA" sz="4000" b="1">
                <a:solidFill>
                  <a:srgbClr val="000000"/>
                </a:solidFill>
                <a:latin typeface="Arial" panose="020B0604020202020204" pitchFamily="34" charset="0"/>
              </a:rPr>
              <a:t>2.46%</a:t>
            </a:r>
          </a:p>
        </p:txBody>
      </p:sp>
      <p:sp>
        <p:nvSpPr>
          <p:cNvPr id="6" name="TextBox 5">
            <a:extLst>
              <a:ext uri="{FF2B5EF4-FFF2-40B4-BE49-F238E27FC236}">
                <a16:creationId xmlns:a16="http://schemas.microsoft.com/office/drawing/2014/main" id="{C953D815-E4F7-8B1A-2310-2A34C7B77053}"/>
              </a:ext>
            </a:extLst>
          </p:cNvPr>
          <p:cNvSpPr txBox="1"/>
          <p:nvPr/>
        </p:nvSpPr>
        <p:spPr>
          <a:xfrm>
            <a:off x="8445500" y="2222500"/>
            <a:ext cx="2921000" cy="276999"/>
          </a:xfrm>
          <a:prstGeom prst="rect">
            <a:avLst/>
          </a:prstGeom>
          <a:noFill/>
        </p:spPr>
        <p:txBody>
          <a:bodyPr vert="horz" lIns="0" tIns="0" rIns="0" bIns="0" rtlCol="0" anchor="t">
            <a:spAutoFit/>
          </a:bodyPr>
          <a:lstStyle/>
          <a:p>
            <a:r>
              <a:rPr lang="fr-CA">
                <a:solidFill>
                  <a:srgbClr val="4C525B"/>
                </a:solidFill>
                <a:latin typeface="Arial" panose="020B0604020202020204" pitchFamily="34" charset="0"/>
              </a:rPr>
              <a:t>Central forecast</a:t>
            </a:r>
          </a:p>
        </p:txBody>
      </p:sp>
      <p:cxnSp>
        <p:nvCxnSpPr>
          <p:cNvPr id="7" name="Straight Connector 6">
            <a:extLst>
              <a:ext uri="{FF2B5EF4-FFF2-40B4-BE49-F238E27FC236}">
                <a16:creationId xmlns:a16="http://schemas.microsoft.com/office/drawing/2014/main" id="{8A5B0E96-D66A-0A1E-A4EC-E826E7C5F6DE}"/>
              </a:ext>
            </a:extLst>
          </p:cNvPr>
          <p:cNvCxnSpPr/>
          <p:nvPr/>
        </p:nvCxnSpPr>
        <p:spPr>
          <a:xfrm>
            <a:off x="8445500" y="2857500"/>
            <a:ext cx="2921000" cy="0"/>
          </a:xfrm>
          <a:prstGeom prst="line">
            <a:avLst/>
          </a:prstGeom>
          <a:ln w="12700">
            <a:solidFill>
              <a:srgbClr val="B8BCC4"/>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20703F6B-8B44-DF30-8BAD-67C74AC204B5}"/>
              </a:ext>
            </a:extLst>
          </p:cNvPr>
          <p:cNvSpPr txBox="1"/>
          <p:nvPr/>
        </p:nvSpPr>
        <p:spPr>
          <a:xfrm>
            <a:off x="8445500" y="3149600"/>
            <a:ext cx="3048000" cy="446276"/>
          </a:xfrm>
          <a:prstGeom prst="rect">
            <a:avLst/>
          </a:prstGeom>
          <a:noFill/>
        </p:spPr>
        <p:txBody>
          <a:bodyPr vert="horz" lIns="0" tIns="0" rIns="0" bIns="0" rtlCol="0" anchor="t">
            <a:spAutoFit/>
          </a:bodyPr>
          <a:lstStyle/>
          <a:p>
            <a:r>
              <a:rPr lang="fr-CA" sz="2900" b="1">
                <a:solidFill>
                  <a:srgbClr val="000000"/>
                </a:solidFill>
                <a:latin typeface="Arial" panose="020B0604020202020204" pitchFamily="34" charset="0"/>
              </a:rPr>
              <a:t>1.09% to 3.82%</a:t>
            </a:r>
          </a:p>
        </p:txBody>
      </p:sp>
      <p:sp>
        <p:nvSpPr>
          <p:cNvPr id="9" name="TextBox 8">
            <a:extLst>
              <a:ext uri="{FF2B5EF4-FFF2-40B4-BE49-F238E27FC236}">
                <a16:creationId xmlns:a16="http://schemas.microsoft.com/office/drawing/2014/main" id="{8E86A58D-845A-0319-2AF6-0A22F2A7E62F}"/>
              </a:ext>
            </a:extLst>
          </p:cNvPr>
          <p:cNvSpPr txBox="1"/>
          <p:nvPr/>
        </p:nvSpPr>
        <p:spPr>
          <a:xfrm>
            <a:off x="8445500" y="3733800"/>
            <a:ext cx="2921000" cy="276999"/>
          </a:xfrm>
          <a:prstGeom prst="rect">
            <a:avLst/>
          </a:prstGeom>
          <a:noFill/>
        </p:spPr>
        <p:txBody>
          <a:bodyPr vert="horz" lIns="0" tIns="0" rIns="0" bIns="0" rtlCol="0" anchor="t">
            <a:spAutoFit/>
          </a:bodyPr>
          <a:lstStyle/>
          <a:p>
            <a:r>
              <a:rPr lang="fr-CA">
                <a:solidFill>
                  <a:srgbClr val="4C525B"/>
                </a:solidFill>
                <a:latin typeface="Arial" panose="020B0604020202020204" pitchFamily="34" charset="0"/>
              </a:rPr>
              <a:t>Planning range</a:t>
            </a:r>
          </a:p>
        </p:txBody>
      </p:sp>
      <p:cxnSp>
        <p:nvCxnSpPr>
          <p:cNvPr id="10" name="Straight Connector 9">
            <a:extLst>
              <a:ext uri="{FF2B5EF4-FFF2-40B4-BE49-F238E27FC236}">
                <a16:creationId xmlns:a16="http://schemas.microsoft.com/office/drawing/2014/main" id="{28B33AA3-CC30-6BAD-F26E-614F4343C4B1}"/>
              </a:ext>
            </a:extLst>
          </p:cNvPr>
          <p:cNvCxnSpPr/>
          <p:nvPr/>
        </p:nvCxnSpPr>
        <p:spPr>
          <a:xfrm>
            <a:off x="8445500" y="4368800"/>
            <a:ext cx="2921000" cy="0"/>
          </a:xfrm>
          <a:prstGeom prst="line">
            <a:avLst/>
          </a:prstGeom>
          <a:ln w="12700">
            <a:solidFill>
              <a:srgbClr val="B8BCC4"/>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A572CA57-28C0-3CD1-0390-9B045844EF47}"/>
              </a:ext>
            </a:extLst>
          </p:cNvPr>
          <p:cNvSpPr txBox="1"/>
          <p:nvPr/>
        </p:nvSpPr>
        <p:spPr>
          <a:xfrm>
            <a:off x="8445500" y="4660900"/>
            <a:ext cx="2921000" cy="446276"/>
          </a:xfrm>
          <a:prstGeom prst="rect">
            <a:avLst/>
          </a:prstGeom>
          <a:noFill/>
        </p:spPr>
        <p:txBody>
          <a:bodyPr vert="horz" lIns="0" tIns="0" rIns="0" bIns="0" rtlCol="0" anchor="t">
            <a:spAutoFit/>
          </a:bodyPr>
          <a:lstStyle/>
          <a:p>
            <a:r>
              <a:rPr lang="fr-CA" sz="2900" b="1">
                <a:solidFill>
                  <a:srgbClr val="000000"/>
                </a:solidFill>
                <a:latin typeface="Arial" panose="020B0604020202020204" pitchFamily="34" charset="0"/>
              </a:rPr>
              <a:t>1.36 pp</a:t>
            </a:r>
          </a:p>
        </p:txBody>
      </p:sp>
      <p:sp>
        <p:nvSpPr>
          <p:cNvPr id="12" name="TextBox 11">
            <a:extLst>
              <a:ext uri="{FF2B5EF4-FFF2-40B4-BE49-F238E27FC236}">
                <a16:creationId xmlns:a16="http://schemas.microsoft.com/office/drawing/2014/main" id="{290DDE03-453C-D41D-6347-147EE706A1F3}"/>
              </a:ext>
            </a:extLst>
          </p:cNvPr>
          <p:cNvSpPr txBox="1"/>
          <p:nvPr/>
        </p:nvSpPr>
        <p:spPr>
          <a:xfrm>
            <a:off x="8445500" y="5232400"/>
            <a:ext cx="3048000" cy="276999"/>
          </a:xfrm>
          <a:prstGeom prst="rect">
            <a:avLst/>
          </a:prstGeom>
          <a:noFill/>
        </p:spPr>
        <p:txBody>
          <a:bodyPr vert="horz" lIns="0" tIns="0" rIns="0" bIns="0" rtlCol="0" anchor="t">
            <a:spAutoFit/>
          </a:bodyPr>
          <a:lstStyle/>
          <a:p>
            <a:r>
              <a:rPr lang="fr-CA">
                <a:solidFill>
                  <a:srgbClr val="4C525B"/>
                </a:solidFill>
                <a:latin typeface="Arial" panose="020B0604020202020204" pitchFamily="34" charset="0"/>
              </a:rPr>
              <a:t>Backtest MAE, 2023-2025</a:t>
            </a:r>
          </a:p>
        </p:txBody>
      </p:sp>
      <p:sp>
        <p:nvSpPr>
          <p:cNvPr id="13" name="TextBox 12">
            <a:extLst>
              <a:ext uri="{FF2B5EF4-FFF2-40B4-BE49-F238E27FC236}">
                <a16:creationId xmlns:a16="http://schemas.microsoft.com/office/drawing/2014/main" id="{859CD754-43AF-6429-F4B0-6D7A19B0E066}"/>
              </a:ext>
            </a:extLst>
          </p:cNvPr>
          <p:cNvSpPr txBox="1"/>
          <p:nvPr/>
        </p:nvSpPr>
        <p:spPr>
          <a:xfrm>
            <a:off x="381000" y="5918200"/>
            <a:ext cx="10541000" cy="646331"/>
          </a:xfrm>
          <a:prstGeom prst="rect">
            <a:avLst/>
          </a:prstGeom>
          <a:noFill/>
        </p:spPr>
        <p:txBody>
          <a:bodyPr vert="horz" lIns="0" tIns="0" rIns="0" bIns="0" rtlCol="0" anchor="t">
            <a:spAutoFit/>
          </a:bodyPr>
          <a:lstStyle/>
          <a:p>
            <a:r>
              <a:rPr lang="en-US" sz="2100" b="1">
                <a:solidFill>
                  <a:srgbClr val="3D8DFF"/>
                </a:solidFill>
                <a:latin typeface="Arial" panose="020B0604020202020204" pitchFamily="34" charset="0"/>
              </a:rPr>
              <a:t>Recommendation: use 2.46% for planning, while monitoring concessions and turnover results.</a:t>
            </a:r>
            <a:endParaRPr lang="fr-CA" sz="2100" b="1">
              <a:solidFill>
                <a:srgbClr val="3D8DFF"/>
              </a:solidFill>
              <a:latin typeface="Arial" panose="020B0604020202020204" pitchFamily="34" charset="0"/>
            </a:endParaRPr>
          </a:p>
        </p:txBody>
      </p:sp>
      <p:sp>
        <p:nvSpPr>
          <p:cNvPr id="14" name="TextBox 13">
            <a:extLst>
              <a:ext uri="{FF2B5EF4-FFF2-40B4-BE49-F238E27FC236}">
                <a16:creationId xmlns:a16="http://schemas.microsoft.com/office/drawing/2014/main" id="{ECB0830F-3434-2857-C4D0-7A6DA679DA6C}"/>
              </a:ext>
            </a:extLst>
          </p:cNvPr>
          <p:cNvSpPr txBox="1"/>
          <p:nvPr/>
        </p:nvSpPr>
        <p:spPr>
          <a:xfrm>
            <a:off x="11493500" y="6502400"/>
            <a:ext cx="254000" cy="138499"/>
          </a:xfrm>
          <a:prstGeom prst="rect">
            <a:avLst/>
          </a:prstGeom>
          <a:noFill/>
        </p:spPr>
        <p:txBody>
          <a:bodyPr vert="horz" lIns="0" tIns="0" rIns="0" bIns="0" rtlCol="0" anchor="t">
            <a:spAutoFit/>
          </a:bodyPr>
          <a:lstStyle/>
          <a:p>
            <a:pPr algn="r"/>
            <a:r>
              <a:rPr lang="fr-CA" sz="900">
                <a:solidFill>
                  <a:srgbClr val="4C525B"/>
                </a:solidFill>
                <a:latin typeface="Arial" panose="020B0604020202020204" pitchFamily="34" charset="0"/>
              </a:rPr>
              <a:t>6</a:t>
            </a:r>
          </a:p>
        </p:txBody>
      </p:sp>
    </p:spTree>
    <p:extLst>
      <p:ext uri="{BB962C8B-B14F-4D97-AF65-F5344CB8AC3E}">
        <p14:creationId xmlns:p14="http://schemas.microsoft.com/office/powerpoint/2010/main" val="22012645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763</Words>
  <Application>Microsoft Office PowerPoint</Application>
  <PresentationFormat>Widescreen</PresentationFormat>
  <Paragraphs>66</Paragraphs>
  <Slides>6</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vt:i4>
      </vt:variant>
    </vt:vector>
  </HeadingPairs>
  <TitlesOfParts>
    <vt:vector size="10"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Sami Erafii</dc:creator>
  <cp:lastModifiedBy>Sami Erafii</cp:lastModifiedBy>
  <cp:revision>2</cp:revision>
  <dcterms:created xsi:type="dcterms:W3CDTF">2026-10-04T12:40:27Z</dcterms:created>
  <dcterms:modified xsi:type="dcterms:W3CDTF">2026-10-04T12:57:12Z</dcterms:modified>
</cp:coreProperties>
</file>